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ottomline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2" name="accentline"/>
          <p:cNvSpPr/>
          <p:nvPr/>
        </p:nvSpPr>
        <p:spPr>
          <a:xfrm>
            <a:off x="5400000" y="2350000"/>
            <a:ext cx="1400000" cy="5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3" name="maintitle"/>
          <p:cNvSpPr txBox="1"/>
          <p:nvPr/>
        </p:nvSpPr>
        <p:spPr>
          <a:xfrm>
            <a:off x="800000" y="2600000"/>
            <a:ext cx="10592000" cy="11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5400" b="1" spc="200" dirty="0">
                <a:solidFill>
                  <a:srgbClr val="E5E5E5"/>
                </a:solidFill>
                <a:latin typeface="Microsoft YaHei UI"/>
                <a:ea typeface="Microsoft YaHei UI"/>
              </a:rPr>
              <a:t>已知行星可视化</a:t>
            </a:r>
          </a:p>
        </p:txBody>
      </p:sp>
      <p:sp>
        <p:nvSpPr>
          <p:cNvPr id="104" name="subtitle"/>
          <p:cNvSpPr txBox="1"/>
          <p:nvPr/>
        </p:nvSpPr>
        <p:spPr>
          <a:xfrm>
            <a:off x="800000" y="3900000"/>
            <a:ext cx="10592000" cy="6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2200" dirty="0">
                <a:solidFill>
                  <a:srgbClr val="E87D0D"/>
                </a:solidFill>
                <a:latin typeface="Microsoft YaHei UI"/>
                <a:ea typeface="Microsoft YaHei UI"/>
              </a:rPr>
              <a:t>基于真实天文数据的三维 / 二维行星可视化桌面软件</a:t>
            </a:r>
          </a:p>
        </p:txBody>
      </p:sp>
      <p:sp>
        <p:nvSpPr>
          <p:cNvPr id="105" name="meta"/>
          <p:cNvSpPr txBox="1"/>
          <p:nvPr/>
        </p:nvSpPr>
        <p:spPr>
          <a:xfrm>
            <a:off x="800000" y="5100000"/>
            <a:ext cx="10592000" cy="10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spcAft>
                <a:spcPts val="600"/>
              </a:spcAft>
              <a:buNone/>
            </a:pPr>
            <a:r>
              <a:rPr lang="zh-CN" altLang="en-US" sz="1500" dirty="0">
                <a:solidFill>
                  <a:srgbClr val="A0A0A0"/>
                </a:solidFill>
                <a:latin typeface="Microsoft YaHei UI"/>
                <a:ea typeface="Microsoft YaHei UI"/>
              </a:rPr>
              <a:t>2026 华为开发者大赛 · 上海理工大学站</a:t>
            </a:r>
          </a:p>
          <a:p>
            <a:pPr algn="ctr">
              <a:lnSpc>
                <a:spcPct val="130000"/>
              </a:lnSpc>
              <a:buNone/>
            </a:pPr>
            <a:r>
              <a:rPr lang="zh-CN" altLang="en-US" sz="1200" dirty="0">
                <a:solidFill>
                  <a:srgbClr val="A0A0A0"/>
                </a:solidFill>
                <a:latin typeface="Microsoft YaHei UI"/>
                <a:ea typeface="Microsoft YaHei UI"/>
              </a:rPr>
              <a:t>队伍：{队伍名称}   |   成员：{成员名单}   | 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bottomline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10" name="pagenum"/>
          <p:cNvSpPr txBox="1"/>
          <p:nvPr/>
        </p:nvSpPr>
        <p:spPr>
          <a:xfrm>
            <a:off x="11192000" y="6298000"/>
            <a:ext cx="700000" cy="3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30000"/>
              </a:lnSpc>
              <a:buNone/>
            </a:pPr>
            <a:r>
              <a:rPr lang="zh-CN" altLang="en-US" sz="1000" dirty="0">
                <a:solidFill>
                  <a:srgbClr val="A0A0A0"/>
                </a:solidFill>
                <a:latin typeface="Microsoft YaHei UI"/>
                <a:ea typeface="Microsoft YaHei UI"/>
              </a:rPr>
              <a:t>02 / 19</a:t>
            </a:r>
          </a:p>
        </p:txBody>
      </p:sp>
      <p:sp>
        <p:nvSpPr>
          <p:cNvPr id="111" name="tag"/>
          <p:cNvSpPr txBox="1"/>
          <p:nvPr/>
        </p:nvSpPr>
        <p:spPr>
          <a:xfrm>
            <a:off x="700000" y="380000"/>
            <a:ext cx="8000000" cy="28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100" b="1" spc="300" dirty="0">
                <a:solidFill>
                  <a:srgbClr val="A0A0A0"/>
                </a:solidFill>
                <a:latin typeface="Microsoft YaHei UI"/>
                <a:ea typeface="Microsoft YaHei UI"/>
              </a:rPr>
              <a:t>01  SCENE BACKGROUND</a:t>
            </a:r>
          </a:p>
        </p:txBody>
      </p:sp>
      <p:sp>
        <p:nvSpPr>
          <p:cNvPr id="112" name="titlebar"/>
          <p:cNvSpPr/>
          <p:nvPr/>
        </p:nvSpPr>
        <p:spPr>
          <a:xfrm>
            <a:off x="700000" y="820000"/>
            <a:ext cx="80000" cy="64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13" name="title"/>
          <p:cNvSpPr txBox="1"/>
          <p:nvPr/>
        </p:nvSpPr>
        <p:spPr>
          <a:xfrm>
            <a:off x="900000" y="760000"/>
            <a:ext cx="105000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3200" b="1" dirty="0">
                <a:solidFill>
                  <a:srgbClr val="E5E5E5"/>
                </a:solidFill>
                <a:latin typeface="Microsoft YaHei UI"/>
                <a:ea typeface="Microsoft YaHei UI"/>
              </a:rPr>
              <a:t>为什么做这个？</a:t>
            </a:r>
          </a:p>
        </p:txBody>
      </p:sp>
      <p:sp>
        <p:nvSpPr>
          <p:cNvPr id="106" name="left"/>
          <p:cNvSpPr txBox="1"/>
          <p:nvPr/>
        </p:nvSpPr>
        <p:spPr>
          <a:xfrm>
            <a:off x="700000" y="1900000"/>
            <a:ext cx="5400000" cy="44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zh-CN" altLang="en-US" sz="1700" b="1" dirty="0">
                <a:solidFill>
                  <a:srgbClr val="E87D0D"/>
                </a:solidFill>
                <a:latin typeface="Microsoft YaHei UI"/>
                <a:ea typeface="Microsoft YaHei UI"/>
              </a:rPr>
              <a:t>现有工具的不足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buNone/>
            </a:pPr>
            <a:r>
              <a:rPr lang="zh-CN" altLang="en-US" sz="15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500" b="1" dirty="0">
                <a:solidFill>
                  <a:srgbClr val="E5E5E5"/>
                </a:solidFill>
                <a:latin typeface="Microsoft YaHei UI"/>
                <a:ea typeface="Microsoft YaHei UI"/>
              </a:rPr>
              <a:t>Celestia</a:t>
            </a:r>
            <a:r>
              <a:rPr lang="zh-CN" altLang="en-US" sz="1300" dirty="0">
                <a:solidFill>
                  <a:srgbClr val="A0A0A0"/>
                </a:solidFill>
                <a:latin typeface="Microsoft YaHei UI"/>
                <a:ea typeface="Microsoft YaHei UI"/>
              </a:rPr>
              <a:t>  操作复杂，非专业用户难以上手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buNone/>
            </a:pPr>
            <a:r>
              <a:rPr lang="zh-CN" altLang="en-US" sz="15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500" b="1" dirty="0">
                <a:solidFill>
                  <a:srgbClr val="E5E5E5"/>
                </a:solidFill>
                <a:latin typeface="Microsoft YaHei UI"/>
                <a:ea typeface="Microsoft YaHei UI"/>
              </a:rPr>
              <a:t>NASA Eyes</a:t>
            </a:r>
            <a:r>
              <a:rPr lang="zh-CN" altLang="en-US" sz="1300" dirty="0">
                <a:solidFill>
                  <a:srgbClr val="A0A0A0"/>
                </a:solidFill>
                <a:latin typeface="Microsoft YaHei UI"/>
                <a:ea typeface="Microsoft YaHei UI"/>
              </a:rPr>
              <a:t>  仅网页版，无法离线使用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buNone/>
            </a:pPr>
            <a:r>
              <a:rPr lang="zh-CN" altLang="en-US" sz="15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500" b="1" dirty="0">
                <a:solidFill>
                  <a:srgbClr val="E5E5E5"/>
                </a:solidFill>
                <a:latin typeface="Microsoft YaHei UI"/>
                <a:ea typeface="Microsoft YaHei UI"/>
              </a:rPr>
              <a:t>Stellarium</a:t>
            </a:r>
            <a:r>
              <a:rPr lang="zh-CN" altLang="en-US" sz="1300" dirty="0">
                <a:solidFill>
                  <a:srgbClr val="A0A0A0"/>
                </a:solidFill>
                <a:latin typeface="Microsoft YaHei UI"/>
                <a:ea typeface="Microsoft YaHei UI"/>
              </a:rPr>
              <a:t>  侧重地面观星，非宇宙空间视角</a:t>
            </a:r>
          </a:p>
        </p:txBody>
      </p:sp>
      <p:sp>
        <p:nvSpPr>
          <p:cNvPr id="107" name="divider"/>
          <p:cNvSpPr/>
          <p:nvPr/>
        </p:nvSpPr>
        <p:spPr>
          <a:xfrm>
            <a:off x="6350000" y="2000000"/>
            <a:ext cx="25000" cy="39000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8" name="right"/>
          <p:cNvSpPr txBox="1"/>
          <p:nvPr/>
        </p:nvSpPr>
        <p:spPr>
          <a:xfrm>
            <a:off x="6700000" y="1900000"/>
            <a:ext cx="4800000" cy="44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zh-CN" altLang="en-US" sz="1700" b="1" dirty="0">
                <a:solidFill>
                  <a:srgbClr val="E87D0D"/>
                </a:solidFill>
                <a:latin typeface="Microsoft YaHei UI"/>
                <a:ea typeface="Microsoft YaHei UI"/>
              </a:rPr>
              <a:t>用户痛点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buNone/>
            </a:pPr>
            <a:r>
              <a:rPr lang="zh-CN" altLang="en-US" sz="15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400" dirty="0">
                <a:solidFill>
                  <a:srgbClr val="E5E5E5"/>
                </a:solidFill>
                <a:latin typeface="Microsoft YaHei UI"/>
                <a:ea typeface="Microsoft YaHei UI"/>
              </a:rPr>
              <a:t>想看行星有多大</a:t>
            </a:r>
            <a:r>
              <a:rPr lang="zh-CN" altLang="en-US" sz="1300" dirty="0">
                <a:solidFill>
                  <a:srgbClr val="A0A0A0"/>
                </a:solidFill>
                <a:latin typeface="Microsoft YaHei UI"/>
                <a:ea typeface="Microsoft YaHei UI"/>
              </a:rPr>
              <a:t> → 缺乏尺寸对比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buNone/>
            </a:pPr>
            <a:r>
              <a:rPr lang="zh-CN" altLang="en-US" sz="15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400" dirty="0">
                <a:solidFill>
                  <a:srgbClr val="E5E5E5"/>
                </a:solidFill>
                <a:latin typeface="Microsoft YaHei UI"/>
                <a:ea typeface="Microsoft YaHei UI"/>
              </a:rPr>
              <a:t>想看相对运动</a:t>
            </a:r>
            <a:r>
              <a:rPr lang="zh-CN" altLang="en-US" sz="1300" dirty="0">
                <a:solidFill>
                  <a:srgbClr val="A0A0A0"/>
                </a:solidFill>
                <a:latin typeface="Microsoft YaHei UI"/>
                <a:ea typeface="Microsoft YaHei UI"/>
              </a:rPr>
              <a:t> → 无工具提供此分析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buNone/>
            </a:pPr>
            <a:r>
              <a:rPr lang="zh-CN" altLang="en-US" sz="15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400" dirty="0">
                <a:solidFill>
                  <a:srgbClr val="E5E5E5"/>
                </a:solidFill>
                <a:latin typeface="Microsoft YaHei UI"/>
                <a:ea typeface="Microsoft YaHei UI"/>
              </a:rPr>
              <a:t>想浏览系外行星</a:t>
            </a:r>
            <a:r>
              <a:rPr lang="zh-CN" altLang="en-US" sz="1300" dirty="0">
                <a:solidFill>
                  <a:srgbClr val="A0A0A0"/>
                </a:solidFill>
                <a:latin typeface="Microsoft YaHei UI"/>
                <a:ea typeface="Microsoft YaHei UI"/>
              </a:rPr>
              <a:t> → 数据分散无统一视图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buNone/>
            </a:pPr>
            <a:r>
              <a:rPr lang="zh-CN" altLang="en-US" sz="15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400" dirty="0">
                <a:solidFill>
                  <a:srgbClr val="E5E5E5"/>
                </a:solidFill>
                <a:latin typeface="Microsoft YaHei UI"/>
                <a:ea typeface="Microsoft YaHei UI"/>
              </a:rPr>
              <a:t>想用于教学</a:t>
            </a:r>
            <a:r>
              <a:rPr lang="zh-CN" altLang="en-US" sz="1300" dirty="0">
                <a:solidFill>
                  <a:srgbClr val="A0A0A0"/>
                </a:solidFill>
                <a:latin typeface="Microsoft YaHei UI"/>
                <a:ea typeface="Microsoft YaHei UI"/>
              </a:rPr>
              <a:t> → 缺乏预设教学场景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bottomline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8" name="pagenum"/>
          <p:cNvSpPr txBox="1"/>
          <p:nvPr/>
        </p:nvSpPr>
        <p:spPr>
          <a:xfrm>
            <a:off x="11192000" y="6298000"/>
            <a:ext cx="700000" cy="3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30000"/>
              </a:lnSpc>
              <a:buNone/>
            </a:pPr>
            <a:r>
              <a:rPr lang="zh-CN" altLang="en-US" sz="1000" dirty="0">
                <a:solidFill>
                  <a:srgbClr val="A0A0A0"/>
                </a:solidFill>
                <a:latin typeface="Microsoft YaHei UI"/>
                <a:ea typeface="Microsoft YaHei UI"/>
              </a:rPr>
              <a:t>03 / 19</a:t>
            </a:r>
          </a:p>
        </p:txBody>
      </p:sp>
      <p:sp>
        <p:nvSpPr>
          <p:cNvPr id="129" name="tag"/>
          <p:cNvSpPr txBox="1"/>
          <p:nvPr/>
        </p:nvSpPr>
        <p:spPr>
          <a:xfrm>
            <a:off x="700000" y="380000"/>
            <a:ext cx="8000000" cy="28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100" b="1" spc="300" dirty="0">
                <a:solidFill>
                  <a:srgbClr val="A0A0A0"/>
                </a:solidFill>
                <a:latin typeface="Microsoft YaHei UI"/>
                <a:ea typeface="Microsoft YaHei UI"/>
              </a:rPr>
              <a:t>02  POSITIONING</a:t>
            </a:r>
          </a:p>
        </p:txBody>
      </p:sp>
      <p:sp>
        <p:nvSpPr>
          <p:cNvPr id="130" name="titlebar"/>
          <p:cNvSpPr/>
          <p:nvPr/>
        </p:nvSpPr>
        <p:spPr>
          <a:xfrm>
            <a:off x="700000" y="820000"/>
            <a:ext cx="80000" cy="64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31" name="title"/>
          <p:cNvSpPr txBox="1"/>
          <p:nvPr/>
        </p:nvSpPr>
        <p:spPr>
          <a:xfrm>
            <a:off x="900000" y="760000"/>
            <a:ext cx="105000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3200" b="1" dirty="0">
                <a:solidFill>
                  <a:srgbClr val="E5E5E5"/>
                </a:solidFill>
                <a:latin typeface="Microsoft YaHei UI"/>
                <a:ea typeface="Microsoft YaHei UI"/>
              </a:rPr>
              <a:t>本软件是什么？</a:t>
            </a:r>
          </a:p>
        </p:txBody>
      </p:sp>
      <p:sp>
        <p:nvSpPr>
          <p:cNvPr id="114" name="card0"/>
          <p:cNvSpPr/>
          <p:nvPr/>
        </p:nvSpPr>
        <p:spPr>
          <a:xfrm>
            <a:off x="700000" y="1950000"/>
            <a:ext cx="3463333" cy="260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15" name="cardbar0"/>
          <p:cNvSpPr/>
          <p:nvPr/>
        </p:nvSpPr>
        <p:spPr>
          <a:xfrm>
            <a:off x="700000" y="221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16" name="cardt0"/>
          <p:cNvSpPr txBox="1"/>
          <p:nvPr/>
        </p:nvSpPr>
        <p:spPr>
          <a:xfrm>
            <a:off x="920000" y="2190000"/>
            <a:ext cx="3043333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是什么</a:t>
            </a:r>
          </a:p>
        </p:txBody>
      </p:sp>
      <p:sp>
        <p:nvSpPr>
          <p:cNvPr id="117" name="cardd0"/>
          <p:cNvSpPr txBox="1"/>
          <p:nvPr/>
        </p:nvSpPr>
        <p:spPr>
          <a:xfrm>
            <a:off x="920000" y="2610000"/>
            <a:ext cx="3043333" cy="18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桌面端三维宇宙行星可视化软件，将太阳系与系外行星按真实数据统一呈现</a:t>
            </a:r>
          </a:p>
        </p:txBody>
      </p:sp>
      <p:sp>
        <p:nvSpPr>
          <p:cNvPr id="118" name="card1"/>
          <p:cNvSpPr/>
          <p:nvPr/>
        </p:nvSpPr>
        <p:spPr>
          <a:xfrm>
            <a:off x="4363333" y="1950000"/>
            <a:ext cx="3463333" cy="260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19" name="cardbar1"/>
          <p:cNvSpPr/>
          <p:nvPr/>
        </p:nvSpPr>
        <p:spPr>
          <a:xfrm>
            <a:off x="4363333" y="221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0" name="cardt1"/>
          <p:cNvSpPr txBox="1"/>
          <p:nvPr/>
        </p:nvSpPr>
        <p:spPr>
          <a:xfrm>
            <a:off x="4583333" y="2190000"/>
            <a:ext cx="3043333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解决什么</a:t>
            </a:r>
          </a:p>
        </p:txBody>
      </p:sp>
      <p:sp>
        <p:nvSpPr>
          <p:cNvPr id="121" name="cardd1"/>
          <p:cNvSpPr txBox="1"/>
          <p:nvPr/>
        </p:nvSpPr>
        <p:spPr>
          <a:xfrm>
            <a:off x="4583333" y="2610000"/>
            <a:ext cx="3043333" cy="18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行星尺寸对比、双行星相对运动分析、系外行星统一可视化三大痛点</a:t>
            </a:r>
          </a:p>
        </p:txBody>
      </p:sp>
      <p:sp>
        <p:nvSpPr>
          <p:cNvPr id="122" name="card2"/>
          <p:cNvSpPr/>
          <p:nvPr/>
        </p:nvSpPr>
        <p:spPr>
          <a:xfrm>
            <a:off x="8026666" y="1950000"/>
            <a:ext cx="3463333" cy="260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3" name="cardbar2"/>
          <p:cNvSpPr/>
          <p:nvPr/>
        </p:nvSpPr>
        <p:spPr>
          <a:xfrm>
            <a:off x="8026666" y="221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4" name="cardt2"/>
          <p:cNvSpPr txBox="1"/>
          <p:nvPr/>
        </p:nvSpPr>
        <p:spPr>
          <a:xfrm>
            <a:off x="8246666" y="2190000"/>
            <a:ext cx="3043333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面向谁</a:t>
            </a:r>
          </a:p>
        </p:txBody>
      </p:sp>
      <p:sp>
        <p:nvSpPr>
          <p:cNvPr id="125" name="cardd2"/>
          <p:cNvSpPr txBox="1"/>
          <p:nvPr/>
        </p:nvSpPr>
        <p:spPr>
          <a:xfrm>
            <a:off x="8246666" y="2610000"/>
            <a:ext cx="3043333" cy="18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天文爱好者、师生、科普场馆、科普创作者、科研人员、科幻创作者</a:t>
            </a:r>
          </a:p>
        </p:txBody>
      </p:sp>
      <p:sp>
        <p:nvSpPr>
          <p:cNvPr id="126" name="diff"/>
          <p:cNvSpPr txBox="1"/>
          <p:nvPr/>
        </p:nvSpPr>
        <p:spPr>
          <a:xfrm>
            <a:off x="700000" y="4900000"/>
            <a:ext cx="10790000" cy="9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500" b="1" dirty="0">
                <a:solidFill>
                  <a:srgbClr val="E87D0D"/>
                </a:solidFill>
                <a:latin typeface="Microsoft YaHei UI"/>
                <a:ea typeface="Microsoft YaHei UI"/>
              </a:rPr>
              <a:t>核心差异  </a:t>
            </a:r>
            <a:r>
              <a:rPr lang="zh-CN" altLang="en-US" sz="1500" dirty="0">
                <a:solidFill>
                  <a:srgbClr val="E5E5E5"/>
                </a:solidFill>
                <a:latin typeface="Microsoft YaHei UI"/>
                <a:ea typeface="Microsoft YaHei UI"/>
              </a:rPr>
              <a:t>Blender 式视角操作（业内少有）  +  双行星相对运动分析（现有工具空白）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bottomline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50" name="pagenum"/>
          <p:cNvSpPr txBox="1"/>
          <p:nvPr/>
        </p:nvSpPr>
        <p:spPr>
          <a:xfrm>
            <a:off x="11192000" y="6298000"/>
            <a:ext cx="700000" cy="3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30000"/>
              </a:lnSpc>
              <a:buNone/>
            </a:pPr>
            <a:r>
              <a:rPr lang="zh-CN" altLang="en-US" sz="1000" dirty="0">
                <a:solidFill>
                  <a:srgbClr val="A0A0A0"/>
                </a:solidFill>
                <a:latin typeface="Microsoft YaHei UI"/>
                <a:ea typeface="Microsoft YaHei UI"/>
              </a:rPr>
              <a:t>04 / 19</a:t>
            </a:r>
          </a:p>
        </p:txBody>
      </p:sp>
      <p:sp>
        <p:nvSpPr>
          <p:cNvPr id="151" name="tag"/>
          <p:cNvSpPr txBox="1"/>
          <p:nvPr/>
        </p:nvSpPr>
        <p:spPr>
          <a:xfrm>
            <a:off x="700000" y="380000"/>
            <a:ext cx="8000000" cy="28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100" b="1" spc="300" dirty="0">
                <a:solidFill>
                  <a:srgbClr val="A0A0A0"/>
                </a:solidFill>
                <a:latin typeface="Microsoft YaHei UI"/>
                <a:ea typeface="Microsoft YaHei UI"/>
              </a:rPr>
              <a:t>03  ARCHITECTURE 1/2</a:t>
            </a:r>
          </a:p>
        </p:txBody>
      </p:sp>
      <p:sp>
        <p:nvSpPr>
          <p:cNvPr id="152" name="titlebar"/>
          <p:cNvSpPr/>
          <p:nvPr/>
        </p:nvSpPr>
        <p:spPr>
          <a:xfrm>
            <a:off x="700000" y="820000"/>
            <a:ext cx="80000" cy="64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53" name="title"/>
          <p:cNvSpPr txBox="1"/>
          <p:nvPr/>
        </p:nvSpPr>
        <p:spPr>
          <a:xfrm>
            <a:off x="900000" y="760000"/>
            <a:ext cx="105000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3200" b="1" dirty="0">
                <a:solidFill>
                  <a:srgbClr val="E5E5E5"/>
                </a:solidFill>
                <a:latin typeface="Microsoft YaHei UI"/>
                <a:ea typeface="Microsoft YaHei UI"/>
              </a:rPr>
              <a:t>功能框架：核心可视化</a:t>
            </a:r>
          </a:p>
        </p:txBody>
      </p:sp>
      <p:sp>
        <p:nvSpPr>
          <p:cNvPr id="132" name="kpi0"/>
          <p:cNvSpPr/>
          <p:nvPr/>
        </p:nvSpPr>
        <p:spPr>
          <a:xfrm>
            <a:off x="700000" y="1950000"/>
            <a:ext cx="2510000" cy="150000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33" name="kpibar0"/>
          <p:cNvSpPr txBox="1"/>
          <p:nvPr/>
        </p:nvSpPr>
        <p:spPr>
          <a:xfrm>
            <a:off x="1655000" y="2190000"/>
            <a:ext cx="600000" cy="1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800" dirty="0">
                <a:solidFill>
                  <a:srgbClr val="E87D0D"/>
                </a:solidFill>
                <a:latin typeface="Microsoft YaHei UI"/>
                <a:ea typeface="Microsoft YaHei UI"/>
              </a:rPr>
              <a:t/>
            </a:r>
          </a:p>
        </p:txBody>
      </p:sp>
      <p:sp>
        <p:nvSpPr>
          <p:cNvPr id="134" name="kpin0"/>
          <p:cNvSpPr txBox="1"/>
          <p:nvPr/>
        </p:nvSpPr>
        <p:spPr>
          <a:xfrm>
            <a:off x="700000" y="2270000"/>
            <a:ext cx="2510000" cy="56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rgbClr val="E87D0D"/>
                </a:solidFill>
                <a:latin typeface="Microsoft YaHei UI"/>
                <a:ea typeface="Microsoft YaHei UI"/>
              </a:rPr>
              <a:t>23</a:t>
            </a:r>
          </a:p>
        </p:txBody>
      </p:sp>
      <p:sp>
        <p:nvSpPr>
          <p:cNvPr id="135" name="kpil0"/>
          <p:cNvSpPr txBox="1"/>
          <p:nvPr/>
        </p:nvSpPr>
        <p:spPr>
          <a:xfrm>
            <a:off x="700000" y="2890000"/>
            <a:ext cx="2510000" cy="4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太阳系天体（含 13 颗卫星）</a:t>
            </a:r>
          </a:p>
        </p:txBody>
      </p:sp>
      <p:sp>
        <p:nvSpPr>
          <p:cNvPr id="136" name="kpi1"/>
          <p:cNvSpPr/>
          <p:nvPr/>
        </p:nvSpPr>
        <p:spPr>
          <a:xfrm>
            <a:off x="3460000" y="1950000"/>
            <a:ext cx="2510000" cy="150000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37" name="kpibar1"/>
          <p:cNvSpPr txBox="1"/>
          <p:nvPr/>
        </p:nvSpPr>
        <p:spPr>
          <a:xfrm>
            <a:off x="4415000" y="2190000"/>
            <a:ext cx="600000" cy="1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800" dirty="0">
                <a:solidFill>
                  <a:srgbClr val="E87D0D"/>
                </a:solidFill>
                <a:latin typeface="Microsoft YaHei UI"/>
                <a:ea typeface="Microsoft YaHei UI"/>
              </a:rPr>
              <a:t/>
            </a:r>
          </a:p>
        </p:txBody>
      </p:sp>
      <p:sp>
        <p:nvSpPr>
          <p:cNvPr id="138" name="kpin1"/>
          <p:cNvSpPr txBox="1"/>
          <p:nvPr/>
        </p:nvSpPr>
        <p:spPr>
          <a:xfrm>
            <a:off x="3460000" y="2270000"/>
            <a:ext cx="2510000" cy="56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rgbClr val="E87D0D"/>
                </a:solidFill>
                <a:latin typeface="Microsoft YaHei UI"/>
                <a:ea typeface="Microsoft YaHei UI"/>
              </a:rPr>
              <a:t>6375+</a:t>
            </a:r>
          </a:p>
        </p:txBody>
      </p:sp>
      <p:sp>
        <p:nvSpPr>
          <p:cNvPr id="139" name="kpil1"/>
          <p:cNvSpPr txBox="1"/>
          <p:nvPr/>
        </p:nvSpPr>
        <p:spPr>
          <a:xfrm>
            <a:off x="3460000" y="2890000"/>
            <a:ext cx="2510000" cy="4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系外行星（NASA 完整目录）</a:t>
            </a:r>
          </a:p>
        </p:txBody>
      </p:sp>
      <p:sp>
        <p:nvSpPr>
          <p:cNvPr id="140" name="kpi2"/>
          <p:cNvSpPr/>
          <p:nvPr/>
        </p:nvSpPr>
        <p:spPr>
          <a:xfrm>
            <a:off x="6220000" y="1950000"/>
            <a:ext cx="2510000" cy="150000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41" name="kpibar2"/>
          <p:cNvSpPr txBox="1"/>
          <p:nvPr/>
        </p:nvSpPr>
        <p:spPr>
          <a:xfrm>
            <a:off x="7175000" y="2190000"/>
            <a:ext cx="600000" cy="1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800" dirty="0">
                <a:solidFill>
                  <a:srgbClr val="E87D0D"/>
                </a:solidFill>
                <a:latin typeface="Microsoft YaHei UI"/>
                <a:ea typeface="Microsoft YaHei UI"/>
              </a:rPr>
              <a:t/>
            </a:r>
          </a:p>
        </p:txBody>
      </p:sp>
      <p:sp>
        <p:nvSpPr>
          <p:cNvPr id="142" name="kpin2"/>
          <p:cNvSpPr txBox="1"/>
          <p:nvPr/>
        </p:nvSpPr>
        <p:spPr>
          <a:xfrm>
            <a:off x="6220000" y="2270000"/>
            <a:ext cx="2510000" cy="56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rgbClr val="E87D0D"/>
                </a:solidFill>
                <a:latin typeface="Microsoft YaHei UI"/>
                <a:ea typeface="Microsoft YaHei UI"/>
              </a:rPr>
              <a:t>62</a:t>
            </a:r>
          </a:p>
        </p:txBody>
      </p:sp>
      <p:sp>
        <p:nvSpPr>
          <p:cNvPr id="143" name="kpil2"/>
          <p:cNvSpPr txBox="1"/>
          <p:nvPr/>
        </p:nvSpPr>
        <p:spPr>
          <a:xfrm>
            <a:off x="6220000" y="2890000"/>
            <a:ext cx="2510000" cy="4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真实亮星（Hipparcos）</a:t>
            </a:r>
          </a:p>
        </p:txBody>
      </p:sp>
      <p:sp>
        <p:nvSpPr>
          <p:cNvPr id="144" name="kpi3"/>
          <p:cNvSpPr/>
          <p:nvPr/>
        </p:nvSpPr>
        <p:spPr>
          <a:xfrm>
            <a:off x="8980000" y="1950000"/>
            <a:ext cx="2510000" cy="150000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45" name="kpibar3"/>
          <p:cNvSpPr txBox="1"/>
          <p:nvPr/>
        </p:nvSpPr>
        <p:spPr>
          <a:xfrm>
            <a:off x="9935000" y="2190000"/>
            <a:ext cx="600000" cy="1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800" dirty="0">
                <a:solidFill>
                  <a:srgbClr val="E87D0D"/>
                </a:solidFill>
                <a:latin typeface="Microsoft YaHei UI"/>
                <a:ea typeface="Microsoft YaHei UI"/>
              </a:rPr>
              <a:t/>
            </a:r>
          </a:p>
        </p:txBody>
      </p:sp>
      <p:sp>
        <p:nvSpPr>
          <p:cNvPr id="146" name="kpin3"/>
          <p:cNvSpPr txBox="1"/>
          <p:nvPr/>
        </p:nvSpPr>
        <p:spPr>
          <a:xfrm>
            <a:off x="8980000" y="2270000"/>
            <a:ext cx="2510000" cy="56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rgbClr val="E87D0D"/>
                </a:solidFill>
                <a:latin typeface="Microsoft YaHei UI"/>
                <a:ea typeface="Microsoft YaHei UI"/>
              </a:rPr>
              <a:t>4781</a:t>
            </a:r>
          </a:p>
        </p:txBody>
      </p:sp>
      <p:sp>
        <p:nvSpPr>
          <p:cNvPr id="147" name="kpil3"/>
          <p:cNvSpPr txBox="1"/>
          <p:nvPr/>
        </p:nvSpPr>
        <p:spPr>
          <a:xfrm>
            <a:off x="8980000" y="2890000"/>
            <a:ext cx="2510000" cy="4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恒星系（系群）</a:t>
            </a:r>
          </a:p>
        </p:txBody>
      </p:sp>
      <p:sp>
        <p:nvSpPr>
          <p:cNvPr id="148" name="bullets"/>
          <p:cNvSpPr txBox="1"/>
          <p:nvPr/>
        </p:nvSpPr>
        <p:spPr>
          <a:xfrm>
            <a:off x="700000" y="3900000"/>
            <a:ext cx="10790000" cy="2058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50000"/>
              </a:lnSpc>
              <a:buNone/>
            </a:pPr>
            <a:r>
              <a:rPr lang="zh-CN" altLang="en-US" sz="145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450" b="1" dirty="0">
                <a:solidFill>
                  <a:srgbClr val="E5E5E5"/>
                </a:solidFill>
                <a:latin typeface="Microsoft YaHei UI"/>
                <a:ea typeface="Microsoft YaHei UI"/>
              </a:rPr>
              <a:t>三维 / 二维双视口</a:t>
            </a:r>
            <a:r>
              <a:rPr lang="zh-CN" altLang="en-US" sz="1250" dirty="0">
                <a:solidFill>
                  <a:srgbClr val="A0A0A0"/>
                </a:solidFill>
                <a:latin typeface="Microsoft YaHei UI"/>
                <a:ea typeface="Microsoft YaHei UI"/>
              </a:rPr>
              <a:t>  OpenGL 3.3 三维主视口 + QPainter 二维俯视图，启动器一键切换（快捷键 3 / 2）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45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450" b="1" dirty="0">
                <a:solidFill>
                  <a:srgbClr val="E5E5E5"/>
                </a:solidFill>
                <a:latin typeface="Microsoft YaHei UI"/>
                <a:ea typeface="Microsoft YaHei UI"/>
              </a:rPr>
              <a:t>Blender 式视角</a:t>
            </a:r>
            <a:r>
              <a:rPr lang="zh-CN" altLang="en-US" sz="1250" dirty="0">
                <a:solidFill>
                  <a:srgbClr val="A0A0A0"/>
                </a:solidFill>
                <a:latin typeface="Microsoft YaHei UI"/>
                <a:ea typeface="Microsoft YaHei UI"/>
              </a:rPr>
              <a:t>  轨道模式 + 飞行模式，对数缩放跨 18 个数量级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45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450" b="1" dirty="0">
                <a:solidFill>
                  <a:srgbClr val="E5E5E5"/>
                </a:solidFill>
                <a:latin typeface="Microsoft YaHei UI"/>
                <a:ea typeface="Microsoft YaHei UI"/>
              </a:rPr>
              <a:t>真实背景</a:t>
            </a:r>
            <a:r>
              <a:rPr lang="zh-CN" altLang="en-US" sz="1250" dirty="0">
                <a:solidFill>
                  <a:srgbClr val="A0A0A0"/>
                </a:solidFill>
                <a:latin typeface="Microsoft YaHei UI"/>
                <a:ea typeface="Microsoft YaHei UI"/>
              </a:rPr>
              <a:t>  程序化体积星云 + 真实亮星背景 + 动态黄道网格 + 主带小行星带点云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45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450" b="1" dirty="0">
                <a:solidFill>
                  <a:srgbClr val="E5E5E5"/>
                </a:solidFill>
                <a:latin typeface="Microsoft YaHei UI"/>
                <a:ea typeface="Microsoft YaHei UI"/>
              </a:rPr>
              <a:t>天体数据</a:t>
            </a:r>
            <a:r>
              <a:rPr lang="zh-CN" altLang="en-US" sz="1250" dirty="0">
                <a:solidFill>
                  <a:srgbClr val="A0A0A0"/>
                </a:solidFill>
                <a:latin typeface="Microsoft YaHei UI"/>
                <a:ea typeface="Microsoft YaHei UI"/>
              </a:rPr>
              <a:t>  JPL 轨道根数 + NASA 系外行星 6375+ + Hipparcos 亮星，缺失标“未知”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bottomline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79" name="pagenum"/>
          <p:cNvSpPr txBox="1"/>
          <p:nvPr/>
        </p:nvSpPr>
        <p:spPr>
          <a:xfrm>
            <a:off x="11192000" y="6298000"/>
            <a:ext cx="700000" cy="3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30000"/>
              </a:lnSpc>
              <a:buNone/>
            </a:pPr>
            <a:r>
              <a:rPr lang="zh-CN" altLang="en-US" sz="1000" dirty="0">
                <a:solidFill>
                  <a:srgbClr val="A0A0A0"/>
                </a:solidFill>
                <a:latin typeface="Microsoft YaHei UI"/>
                <a:ea typeface="Microsoft YaHei UI"/>
              </a:rPr>
              <a:t>05 / 19</a:t>
            </a:r>
          </a:p>
        </p:txBody>
      </p:sp>
      <p:sp>
        <p:nvSpPr>
          <p:cNvPr id="180" name="tag"/>
          <p:cNvSpPr txBox="1"/>
          <p:nvPr/>
        </p:nvSpPr>
        <p:spPr>
          <a:xfrm>
            <a:off x="700000" y="380000"/>
            <a:ext cx="8000000" cy="28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100" b="1" spc="300" dirty="0">
                <a:solidFill>
                  <a:srgbClr val="A0A0A0"/>
                </a:solidFill>
                <a:latin typeface="Microsoft YaHei UI"/>
                <a:ea typeface="Microsoft YaHei UI"/>
              </a:rPr>
              <a:t>04  ARCHITECTURE 2/2</a:t>
            </a:r>
          </a:p>
        </p:txBody>
      </p:sp>
      <p:sp>
        <p:nvSpPr>
          <p:cNvPr id="181" name="titlebar"/>
          <p:cNvSpPr/>
          <p:nvPr/>
        </p:nvSpPr>
        <p:spPr>
          <a:xfrm>
            <a:off x="700000" y="820000"/>
            <a:ext cx="80000" cy="64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82" name="title"/>
          <p:cNvSpPr txBox="1"/>
          <p:nvPr/>
        </p:nvSpPr>
        <p:spPr>
          <a:xfrm>
            <a:off x="900000" y="760000"/>
            <a:ext cx="105000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3200" b="1" dirty="0">
                <a:solidFill>
                  <a:srgbClr val="E5E5E5"/>
                </a:solidFill>
                <a:latin typeface="Microsoft YaHei UI"/>
                <a:ea typeface="Microsoft YaHei UI"/>
              </a:rPr>
              <a:t>功能框架：分析与教学</a:t>
            </a:r>
          </a:p>
        </p:txBody>
      </p:sp>
      <p:sp>
        <p:nvSpPr>
          <p:cNvPr id="154" name="card0"/>
          <p:cNvSpPr/>
          <p:nvPr/>
        </p:nvSpPr>
        <p:spPr>
          <a:xfrm>
            <a:off x="700000" y="1950000"/>
            <a:ext cx="3463333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55" name="cardbar0"/>
          <p:cNvSpPr/>
          <p:nvPr/>
        </p:nvSpPr>
        <p:spPr>
          <a:xfrm>
            <a:off x="700000" y="221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56" name="cardt0"/>
          <p:cNvSpPr txBox="1"/>
          <p:nvPr/>
        </p:nvSpPr>
        <p:spPr>
          <a:xfrm>
            <a:off x="920000" y="2190000"/>
            <a:ext cx="3043333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双行星对比分析</a:t>
            </a:r>
          </a:p>
        </p:txBody>
      </p:sp>
      <p:sp>
        <p:nvSpPr>
          <p:cNvPr id="157" name="cardd0"/>
          <p:cNvSpPr txBox="1"/>
          <p:nvPr/>
        </p:nvSpPr>
        <p:spPr>
          <a:xfrm>
            <a:off x="920000" y="2610000"/>
            <a:ext cx="3043333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4 种参考系切换，3D 轨迹 + 距离/速度曲线，会合周期计算，CSV/PNG 导出</a:t>
            </a:r>
          </a:p>
        </p:txBody>
      </p:sp>
      <p:sp>
        <p:nvSpPr>
          <p:cNvPr id="158" name="card1"/>
          <p:cNvSpPr/>
          <p:nvPr/>
        </p:nvSpPr>
        <p:spPr>
          <a:xfrm>
            <a:off x="4363333" y="1950000"/>
            <a:ext cx="3463333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59" name="cardbar1"/>
          <p:cNvSpPr/>
          <p:nvPr/>
        </p:nvSpPr>
        <p:spPr>
          <a:xfrm>
            <a:off x="4363333" y="221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60" name="cardt1"/>
          <p:cNvSpPr txBox="1"/>
          <p:nvPr/>
        </p:nvSpPr>
        <p:spPr>
          <a:xfrm>
            <a:off x="4583333" y="2190000"/>
            <a:ext cx="3043333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天象推演</a:t>
            </a:r>
          </a:p>
        </p:txBody>
      </p:sp>
      <p:sp>
        <p:nvSpPr>
          <p:cNvPr id="161" name="cardd1"/>
          <p:cNvSpPr txBox="1"/>
          <p:nvPr/>
        </p:nvSpPr>
        <p:spPr>
          <a:xfrm>
            <a:off x="4583333" y="2610000"/>
            <a:ext cx="3043333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冲日/合日/大距/方照/行星合相/凌日六类事件，扫描求根，点击跳转时间轴</a:t>
            </a:r>
          </a:p>
        </p:txBody>
      </p:sp>
      <p:sp>
        <p:nvSpPr>
          <p:cNvPr id="162" name="card2"/>
          <p:cNvSpPr/>
          <p:nvPr/>
        </p:nvSpPr>
        <p:spPr>
          <a:xfrm>
            <a:off x="8026666" y="1950000"/>
            <a:ext cx="3463333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63" name="cardbar2"/>
          <p:cNvSpPr/>
          <p:nvPr/>
        </p:nvSpPr>
        <p:spPr>
          <a:xfrm>
            <a:off x="8026666" y="221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64" name="cardt2"/>
          <p:cNvSpPr txBox="1"/>
          <p:nvPr/>
        </p:nvSpPr>
        <p:spPr>
          <a:xfrm>
            <a:off x="8246666" y="2190000"/>
            <a:ext cx="3043333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观测特征</a:t>
            </a:r>
          </a:p>
        </p:txBody>
      </p:sp>
      <p:sp>
        <p:nvSpPr>
          <p:cNvPr id="165" name="cardd2"/>
          <p:cNvSpPr txBox="1"/>
          <p:nvPr/>
        </p:nvSpPr>
        <p:spPr>
          <a:xfrm>
            <a:off x="8246666" y="2610000"/>
            <a:ext cx="3043333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凌星光变曲线 + 视向速度曲线 + 宜居带（Kopparapu 2013），三联图导出</a:t>
            </a:r>
          </a:p>
        </p:txBody>
      </p:sp>
      <p:sp>
        <p:nvSpPr>
          <p:cNvPr id="166" name="card3"/>
          <p:cNvSpPr/>
          <p:nvPr/>
        </p:nvSpPr>
        <p:spPr>
          <a:xfrm>
            <a:off x="700000" y="4100000"/>
            <a:ext cx="3463333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67" name="cardbar3"/>
          <p:cNvSpPr/>
          <p:nvPr/>
        </p:nvSpPr>
        <p:spPr>
          <a:xfrm>
            <a:off x="700000" y="436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68" name="cardt3"/>
          <p:cNvSpPr txBox="1"/>
          <p:nvPr/>
        </p:nvSpPr>
        <p:spPr>
          <a:xfrm>
            <a:off x="920000" y="4340000"/>
            <a:ext cx="3043333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地面 / 地表视角</a:t>
            </a:r>
          </a:p>
        </p:txBody>
      </p:sp>
      <p:sp>
        <p:nvSpPr>
          <p:cNvPr id="169" name="cardd3"/>
          <p:cNvSpPr txBox="1"/>
          <p:nvPr/>
        </p:nvSpPr>
        <p:spPr>
          <a:xfrm>
            <a:off x="920000" y="4760000"/>
            <a:ext cx="3043333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20 观测点地平天球 + 任意天体表面第一人称全景，含日出日落与晨昏</a:t>
            </a:r>
          </a:p>
        </p:txBody>
      </p:sp>
      <p:sp>
        <p:nvSpPr>
          <p:cNvPr id="170" name="card4"/>
          <p:cNvSpPr/>
          <p:nvPr/>
        </p:nvSpPr>
        <p:spPr>
          <a:xfrm>
            <a:off x="4363333" y="4100000"/>
            <a:ext cx="3463333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71" name="cardbar4"/>
          <p:cNvSpPr/>
          <p:nvPr/>
        </p:nvSpPr>
        <p:spPr>
          <a:xfrm>
            <a:off x="4363333" y="436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72" name="cardt4"/>
          <p:cNvSpPr txBox="1"/>
          <p:nvPr/>
        </p:nvSpPr>
        <p:spPr>
          <a:xfrm>
            <a:off x="4583333" y="4340000"/>
            <a:ext cx="3043333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时间控制</a:t>
            </a:r>
          </a:p>
        </p:txBody>
      </p:sp>
      <p:sp>
        <p:nvSpPr>
          <p:cNvPr id="173" name="cardd4"/>
          <p:cNvSpPr txBox="1"/>
          <p:nvPr/>
        </p:nvSpPr>
        <p:spPr>
          <a:xfrm>
            <a:off x="4583333" y="4760000"/>
            <a:ext cx="3043333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9 档倍速（实时×1 ~ 100年/秒）、倒放、日期跳转，全面板时间同步</a:t>
            </a:r>
          </a:p>
        </p:txBody>
      </p:sp>
      <p:sp>
        <p:nvSpPr>
          <p:cNvPr id="174" name="card5"/>
          <p:cNvSpPr/>
          <p:nvPr/>
        </p:nvSpPr>
        <p:spPr>
          <a:xfrm>
            <a:off x="8026666" y="4100000"/>
            <a:ext cx="3463333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75" name="cardbar5"/>
          <p:cNvSpPr/>
          <p:nvPr/>
        </p:nvSpPr>
        <p:spPr>
          <a:xfrm>
            <a:off x="8026666" y="436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76" name="cardt5"/>
          <p:cNvSpPr txBox="1"/>
          <p:nvPr/>
        </p:nvSpPr>
        <p:spPr>
          <a:xfrm>
            <a:off x="8246666" y="4340000"/>
            <a:ext cx="3043333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教学与工具</a:t>
            </a:r>
          </a:p>
        </p:txBody>
      </p:sp>
      <p:sp>
        <p:nvSpPr>
          <p:cNvPr id="177" name="cardd5"/>
          <p:cNvSpPr txBox="1"/>
          <p:nvPr/>
        </p:nvSpPr>
        <p:spPr>
          <a:xfrm>
            <a:off x="8246666" y="4760000"/>
            <a:ext cx="3043333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6 个预设场景一键播放；7 步新手引导；测距；尺寸对比（真实直径比例）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bottomline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00" name="pagenum"/>
          <p:cNvSpPr txBox="1"/>
          <p:nvPr/>
        </p:nvSpPr>
        <p:spPr>
          <a:xfrm>
            <a:off x="11192000" y="6298000"/>
            <a:ext cx="700000" cy="3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30000"/>
              </a:lnSpc>
              <a:buNone/>
            </a:pPr>
            <a:r>
              <a:rPr lang="zh-CN" altLang="en-US" sz="1000" dirty="0">
                <a:solidFill>
                  <a:srgbClr val="A0A0A0"/>
                </a:solidFill>
                <a:latin typeface="Microsoft YaHei UI"/>
                <a:ea typeface="Microsoft YaHei UI"/>
              </a:rPr>
              <a:t>06 / 19</a:t>
            </a:r>
          </a:p>
        </p:txBody>
      </p:sp>
      <p:sp>
        <p:nvSpPr>
          <p:cNvPr id="201" name="tag"/>
          <p:cNvSpPr txBox="1"/>
          <p:nvPr/>
        </p:nvSpPr>
        <p:spPr>
          <a:xfrm>
            <a:off x="700000" y="380000"/>
            <a:ext cx="8000000" cy="28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100" b="1" spc="300" dirty="0">
                <a:solidFill>
                  <a:srgbClr val="A0A0A0"/>
                </a:solidFill>
                <a:latin typeface="Microsoft YaHei UI"/>
                <a:ea typeface="Microsoft YaHei UI"/>
              </a:rPr>
              <a:t>05  HIGHLIGHTS 1/2</a:t>
            </a:r>
          </a:p>
        </p:txBody>
      </p:sp>
      <p:sp>
        <p:nvSpPr>
          <p:cNvPr id="202" name="titlebar"/>
          <p:cNvSpPr/>
          <p:nvPr/>
        </p:nvSpPr>
        <p:spPr>
          <a:xfrm>
            <a:off x="700000" y="820000"/>
            <a:ext cx="80000" cy="64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03" name="title"/>
          <p:cNvSpPr txBox="1"/>
          <p:nvPr/>
        </p:nvSpPr>
        <p:spPr>
          <a:xfrm>
            <a:off x="900000" y="760000"/>
            <a:ext cx="105000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3200" b="1" dirty="0">
                <a:solidFill>
                  <a:srgbClr val="E5E5E5"/>
                </a:solidFill>
                <a:latin typeface="Microsoft YaHei UI"/>
                <a:ea typeface="Microsoft YaHei UI"/>
              </a:rPr>
              <a:t>核心亮点：专业交互</a:t>
            </a:r>
          </a:p>
        </p:txBody>
      </p:sp>
      <p:sp>
        <p:nvSpPr>
          <p:cNvPr id="183" name="card0"/>
          <p:cNvSpPr/>
          <p:nvPr/>
        </p:nvSpPr>
        <p:spPr>
          <a:xfrm>
            <a:off x="700000" y="1950000"/>
            <a:ext cx="5295000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84" name="cardbar0"/>
          <p:cNvSpPr/>
          <p:nvPr/>
        </p:nvSpPr>
        <p:spPr>
          <a:xfrm>
            <a:off x="700000" y="221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85" name="cardt0"/>
          <p:cNvSpPr txBox="1"/>
          <p:nvPr/>
        </p:nvSpPr>
        <p:spPr>
          <a:xfrm>
            <a:off x="920000" y="2190000"/>
            <a:ext cx="4875000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Blender 式视角操作</a:t>
            </a:r>
          </a:p>
        </p:txBody>
      </p:sp>
      <p:sp>
        <p:nvSpPr>
          <p:cNvPr id="186" name="cardd0"/>
          <p:cNvSpPr txBox="1"/>
          <p:nvPr/>
        </p:nvSpPr>
        <p:spPr>
          <a:xfrm>
            <a:off x="920000" y="2610000"/>
            <a:ext cx="4875000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中键旋转 / Shift+中键平移 / 滚轮对数缩放；Numpad 1/3/7 正交视图与 Blender 完全一致；飞行模式 WASD+QE 自由漫游</a:t>
            </a:r>
          </a:p>
        </p:txBody>
      </p:sp>
      <p:sp>
        <p:nvSpPr>
          <p:cNvPr id="187" name="card1"/>
          <p:cNvSpPr/>
          <p:nvPr/>
        </p:nvSpPr>
        <p:spPr>
          <a:xfrm>
            <a:off x="6195000" y="1950000"/>
            <a:ext cx="5295000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88" name="cardbar1"/>
          <p:cNvSpPr/>
          <p:nvPr/>
        </p:nvSpPr>
        <p:spPr>
          <a:xfrm>
            <a:off x="6195000" y="221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89" name="cardt1"/>
          <p:cNvSpPr txBox="1"/>
          <p:nvPr/>
        </p:nvSpPr>
        <p:spPr>
          <a:xfrm>
            <a:off x="6415000" y="2190000"/>
            <a:ext cx="4875000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双行星相对运动分析</a:t>
            </a:r>
          </a:p>
        </p:txBody>
      </p:sp>
      <p:sp>
        <p:nvSpPr>
          <p:cNvPr id="190" name="cardd1"/>
          <p:cNvSpPr txBox="1"/>
          <p:nvPr/>
        </p:nvSpPr>
        <p:spPr>
          <a:xfrm>
            <a:off x="6415000" y="2610000"/>
            <a:ext cx="4875000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4 种参考系（行星A / 行星B / 质心 / 宿主恒星）；3D 真实轨迹与 2D 俯视切换；距离 / 速度曲线随时间同步游标；会合周期自动计算</a:t>
            </a:r>
          </a:p>
        </p:txBody>
      </p:sp>
      <p:sp>
        <p:nvSpPr>
          <p:cNvPr id="191" name="card2"/>
          <p:cNvSpPr/>
          <p:nvPr/>
        </p:nvSpPr>
        <p:spPr>
          <a:xfrm>
            <a:off x="700000" y="4100000"/>
            <a:ext cx="5295000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92" name="cardbar2"/>
          <p:cNvSpPr/>
          <p:nvPr/>
        </p:nvSpPr>
        <p:spPr>
          <a:xfrm>
            <a:off x="700000" y="436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93" name="cardt2"/>
          <p:cNvSpPr txBox="1"/>
          <p:nvPr/>
        </p:nvSpPr>
        <p:spPr>
          <a:xfrm>
            <a:off x="920000" y="4340000"/>
            <a:ext cx="4875000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天象推演 + 观测特征</a:t>
            </a:r>
          </a:p>
        </p:txBody>
      </p:sp>
      <p:sp>
        <p:nvSpPr>
          <p:cNvPr id="194" name="cardd2"/>
          <p:cNvSpPr txBox="1"/>
          <p:nvPr/>
        </p:nvSpPr>
        <p:spPr>
          <a:xfrm>
            <a:off x="920000" y="4760000"/>
            <a:ext cx="4875000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冲日/合日/大距/方照/合相/凌日六类事件解析求根；凌星光变 / 视向速度 / 宜居带三联图，数值对照真实天文年历</a:t>
            </a:r>
          </a:p>
        </p:txBody>
      </p:sp>
      <p:sp>
        <p:nvSpPr>
          <p:cNvPr id="195" name="card3"/>
          <p:cNvSpPr/>
          <p:nvPr/>
        </p:nvSpPr>
        <p:spPr>
          <a:xfrm>
            <a:off x="6195000" y="4100000"/>
            <a:ext cx="5295000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96" name="cardbar3"/>
          <p:cNvSpPr/>
          <p:nvPr/>
        </p:nvSpPr>
        <p:spPr>
          <a:xfrm>
            <a:off x="6195000" y="436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97" name="cardt3"/>
          <p:cNvSpPr txBox="1"/>
          <p:nvPr/>
        </p:nvSpPr>
        <p:spPr>
          <a:xfrm>
            <a:off x="6415000" y="4340000"/>
            <a:ext cx="4875000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地面 / 地表视角</a:t>
            </a:r>
          </a:p>
        </p:txBody>
      </p:sp>
      <p:sp>
        <p:nvSpPr>
          <p:cNvPr id="198" name="cardd3"/>
          <p:cNvSpPr txBox="1"/>
          <p:nvPr/>
        </p:nvSpPr>
        <p:spPr>
          <a:xfrm>
            <a:off x="6415000" y="4760000"/>
            <a:ext cx="4875000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观测点地平天球（日出日落与三档暮光）+ 任意天体表面第一人称全景（昼夜天光渐变、真实视星等亮度）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bottomline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13" name="pagenum"/>
          <p:cNvSpPr txBox="1"/>
          <p:nvPr/>
        </p:nvSpPr>
        <p:spPr>
          <a:xfrm>
            <a:off x="11192000" y="6298000"/>
            <a:ext cx="700000" cy="3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30000"/>
              </a:lnSpc>
              <a:buNone/>
            </a:pPr>
            <a:r>
              <a:rPr lang="zh-CN" altLang="en-US" sz="1000" dirty="0">
                <a:solidFill>
                  <a:srgbClr val="A0A0A0"/>
                </a:solidFill>
                <a:latin typeface="Microsoft YaHei UI"/>
                <a:ea typeface="Microsoft YaHei UI"/>
              </a:rPr>
              <a:t>07 / 19</a:t>
            </a:r>
          </a:p>
        </p:txBody>
      </p:sp>
      <p:sp>
        <p:nvSpPr>
          <p:cNvPr id="214" name="tag"/>
          <p:cNvSpPr txBox="1"/>
          <p:nvPr/>
        </p:nvSpPr>
        <p:spPr>
          <a:xfrm>
            <a:off x="700000" y="380000"/>
            <a:ext cx="8000000" cy="28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100" b="1" spc="300" dirty="0">
                <a:solidFill>
                  <a:srgbClr val="A0A0A0"/>
                </a:solidFill>
                <a:latin typeface="Microsoft YaHei UI"/>
                <a:ea typeface="Microsoft YaHei UI"/>
              </a:rPr>
              <a:t>06  HIGHLIGHTS 2/2</a:t>
            </a:r>
          </a:p>
        </p:txBody>
      </p:sp>
      <p:sp>
        <p:nvSpPr>
          <p:cNvPr id="215" name="titlebar"/>
          <p:cNvSpPr/>
          <p:nvPr/>
        </p:nvSpPr>
        <p:spPr>
          <a:xfrm>
            <a:off x="700000" y="820000"/>
            <a:ext cx="80000" cy="64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16" name="title"/>
          <p:cNvSpPr txBox="1"/>
          <p:nvPr/>
        </p:nvSpPr>
        <p:spPr>
          <a:xfrm>
            <a:off x="900000" y="760000"/>
            <a:ext cx="105000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3200" b="1" dirty="0">
                <a:solidFill>
                  <a:srgbClr val="E5E5E5"/>
                </a:solidFill>
                <a:latin typeface="Microsoft YaHei UI"/>
                <a:ea typeface="Microsoft YaHei UI"/>
              </a:rPr>
              <a:t>核心亮点：科学诚实</a:t>
            </a:r>
          </a:p>
        </p:txBody>
      </p:sp>
      <p:sp>
        <p:nvSpPr>
          <p:cNvPr id="204" name="card0"/>
          <p:cNvSpPr/>
          <p:nvPr/>
        </p:nvSpPr>
        <p:spPr>
          <a:xfrm>
            <a:off x="700000" y="1950000"/>
            <a:ext cx="10790000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05" name="cardbar0"/>
          <p:cNvSpPr/>
          <p:nvPr/>
        </p:nvSpPr>
        <p:spPr>
          <a:xfrm>
            <a:off x="700000" y="221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06" name="cardt0"/>
          <p:cNvSpPr txBox="1"/>
          <p:nvPr/>
        </p:nvSpPr>
        <p:spPr>
          <a:xfrm>
            <a:off x="920000" y="2190000"/>
            <a:ext cx="10370000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科学诚实性</a:t>
            </a:r>
          </a:p>
        </p:txBody>
      </p:sp>
      <p:sp>
        <p:nvSpPr>
          <p:cNvPr id="207" name="cardd0"/>
          <p:cNvSpPr txBox="1"/>
          <p:nvPr/>
        </p:nvSpPr>
        <p:spPr>
          <a:xfrm>
            <a:off x="920000" y="2610000"/>
            <a:ext cx="10370000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精度分级 A/B/C 标注每个天体；缺失数据如实显示“未知”，禁止伪造；系外行星相位假设值（M(J2000)=0）明确标注，可复现</a:t>
            </a:r>
          </a:p>
        </p:txBody>
      </p:sp>
      <p:sp>
        <p:nvSpPr>
          <p:cNvPr id="208" name="card1"/>
          <p:cNvSpPr/>
          <p:nvPr/>
        </p:nvSpPr>
        <p:spPr>
          <a:xfrm>
            <a:off x="700000" y="4100000"/>
            <a:ext cx="10790000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09" name="cardbar1"/>
          <p:cNvSpPr/>
          <p:nvPr/>
        </p:nvSpPr>
        <p:spPr>
          <a:xfrm>
            <a:off x="700000" y="436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10" name="cardt1"/>
          <p:cNvSpPr txBox="1"/>
          <p:nvPr/>
        </p:nvSpPr>
        <p:spPr>
          <a:xfrm>
            <a:off x="920000" y="4340000"/>
            <a:ext cx="10370000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真实天文数据</a:t>
            </a:r>
          </a:p>
        </p:txBody>
      </p:sp>
      <p:sp>
        <p:nvSpPr>
          <p:cNvPr id="211" name="cardd1"/>
          <p:cNvSpPr txBox="1"/>
          <p:nvPr/>
        </p:nvSpPr>
        <p:spPr>
          <a:xfrm>
            <a:off x="920000" y="4760000"/>
            <a:ext cx="10370000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JPL 近似轨道根数（含世纪变率）；NASA Exoplanet Archive 6375+ 颗完整目录；Hipparcos 62 颗亮星；主带小行星带按柯克伍德空隙生成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bottomline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42" name="pagenum"/>
          <p:cNvSpPr txBox="1"/>
          <p:nvPr/>
        </p:nvSpPr>
        <p:spPr>
          <a:xfrm>
            <a:off x="11192000" y="6298000"/>
            <a:ext cx="700000" cy="3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30000"/>
              </a:lnSpc>
              <a:buNone/>
            </a:pPr>
            <a:r>
              <a:rPr lang="zh-CN" altLang="en-US" sz="1000" dirty="0">
                <a:solidFill>
                  <a:srgbClr val="A0A0A0"/>
                </a:solidFill>
                <a:latin typeface="Microsoft YaHei UI"/>
                <a:ea typeface="Microsoft YaHei UI"/>
              </a:rPr>
              <a:t>08 / 19</a:t>
            </a:r>
          </a:p>
        </p:txBody>
      </p:sp>
      <p:sp>
        <p:nvSpPr>
          <p:cNvPr id="243" name="tag"/>
          <p:cNvSpPr txBox="1"/>
          <p:nvPr/>
        </p:nvSpPr>
        <p:spPr>
          <a:xfrm>
            <a:off x="700000" y="380000"/>
            <a:ext cx="8000000" cy="28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100" b="1" spc="300" dirty="0">
                <a:solidFill>
                  <a:srgbClr val="A0A0A0"/>
                </a:solidFill>
                <a:latin typeface="Microsoft YaHei UI"/>
                <a:ea typeface="Microsoft YaHei UI"/>
              </a:rPr>
              <a:t>07  APPLICATION</a:t>
            </a:r>
          </a:p>
        </p:txBody>
      </p:sp>
      <p:sp>
        <p:nvSpPr>
          <p:cNvPr id="244" name="titlebar"/>
          <p:cNvSpPr/>
          <p:nvPr/>
        </p:nvSpPr>
        <p:spPr>
          <a:xfrm>
            <a:off x="700000" y="820000"/>
            <a:ext cx="80000" cy="64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45" name="title"/>
          <p:cNvSpPr txBox="1"/>
          <p:nvPr/>
        </p:nvSpPr>
        <p:spPr>
          <a:xfrm>
            <a:off x="900000" y="760000"/>
            <a:ext cx="105000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3200" b="1" dirty="0">
                <a:solidFill>
                  <a:srgbClr val="E5E5E5"/>
                </a:solidFill>
                <a:latin typeface="Microsoft YaHei UI"/>
                <a:ea typeface="Microsoft YaHei UI"/>
              </a:rPr>
              <a:t>适用场景：6 类目标用户</a:t>
            </a:r>
          </a:p>
        </p:txBody>
      </p:sp>
      <p:sp>
        <p:nvSpPr>
          <p:cNvPr id="217" name="card0"/>
          <p:cNvSpPr/>
          <p:nvPr/>
        </p:nvSpPr>
        <p:spPr>
          <a:xfrm>
            <a:off x="700000" y="1900000"/>
            <a:ext cx="3463333" cy="20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18" name="cardbar0"/>
          <p:cNvSpPr/>
          <p:nvPr/>
        </p:nvSpPr>
        <p:spPr>
          <a:xfrm>
            <a:off x="700000" y="216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19" name="cardt0"/>
          <p:cNvSpPr txBox="1"/>
          <p:nvPr/>
        </p:nvSpPr>
        <p:spPr>
          <a:xfrm>
            <a:off x="920000" y="2140000"/>
            <a:ext cx="3043333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天文爱好者</a:t>
            </a:r>
          </a:p>
        </p:txBody>
      </p:sp>
      <p:sp>
        <p:nvSpPr>
          <p:cNvPr id="220" name="cardd0"/>
          <p:cNvSpPr txBox="1"/>
          <p:nvPr/>
        </p:nvSpPr>
        <p:spPr>
          <a:xfrm>
            <a:off x="920000" y="2560000"/>
            <a:ext cx="3043333" cy="12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搜索 + 聚焦 + 对比，探索行星运动规律</a:t>
            </a:r>
          </a:p>
        </p:txBody>
      </p:sp>
      <p:sp>
        <p:nvSpPr>
          <p:cNvPr id="221" name="card1"/>
          <p:cNvSpPr/>
          <p:nvPr/>
        </p:nvSpPr>
        <p:spPr>
          <a:xfrm>
            <a:off x="4363333" y="1900000"/>
            <a:ext cx="3463333" cy="20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22" name="cardbar1"/>
          <p:cNvSpPr/>
          <p:nvPr/>
        </p:nvSpPr>
        <p:spPr>
          <a:xfrm>
            <a:off x="4363333" y="216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23" name="cardt1"/>
          <p:cNvSpPr txBox="1"/>
          <p:nvPr/>
        </p:nvSpPr>
        <p:spPr>
          <a:xfrm>
            <a:off x="4583333" y="2140000"/>
            <a:ext cx="3043333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师生教学</a:t>
            </a:r>
          </a:p>
        </p:txBody>
      </p:sp>
      <p:sp>
        <p:nvSpPr>
          <p:cNvPr id="224" name="cardd1"/>
          <p:cNvSpPr txBox="1"/>
          <p:nvPr/>
        </p:nvSpPr>
        <p:spPr>
          <a:xfrm>
            <a:off x="4583333" y="2560000"/>
            <a:ext cx="3043333" cy="12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教学场景一键播放，开普勒定律直观演示</a:t>
            </a:r>
          </a:p>
        </p:txBody>
      </p:sp>
      <p:sp>
        <p:nvSpPr>
          <p:cNvPr id="225" name="card2"/>
          <p:cNvSpPr/>
          <p:nvPr/>
        </p:nvSpPr>
        <p:spPr>
          <a:xfrm>
            <a:off x="8026666" y="1900000"/>
            <a:ext cx="3463333" cy="20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26" name="cardbar2"/>
          <p:cNvSpPr/>
          <p:nvPr/>
        </p:nvSpPr>
        <p:spPr>
          <a:xfrm>
            <a:off x="8026666" y="216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27" name="cardt2"/>
          <p:cNvSpPr txBox="1"/>
          <p:nvPr/>
        </p:nvSpPr>
        <p:spPr>
          <a:xfrm>
            <a:off x="8246666" y="2140000"/>
            <a:ext cx="3043333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科普场馆</a:t>
            </a:r>
          </a:p>
        </p:txBody>
      </p:sp>
      <p:sp>
        <p:nvSpPr>
          <p:cNvPr id="228" name="cardd2"/>
          <p:cNvSpPr txBox="1"/>
          <p:nvPr/>
        </p:nvSpPr>
        <p:spPr>
          <a:xfrm>
            <a:off x="8246666" y="2560000"/>
            <a:ext cx="3043333" cy="12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真实比例 + 飞行模式，大屏互动展示</a:t>
            </a:r>
          </a:p>
        </p:txBody>
      </p:sp>
      <p:sp>
        <p:nvSpPr>
          <p:cNvPr id="229" name="card3"/>
          <p:cNvSpPr/>
          <p:nvPr/>
        </p:nvSpPr>
        <p:spPr>
          <a:xfrm>
            <a:off x="700000" y="4150000"/>
            <a:ext cx="3463333" cy="20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30" name="cardbar3"/>
          <p:cNvSpPr/>
          <p:nvPr/>
        </p:nvSpPr>
        <p:spPr>
          <a:xfrm>
            <a:off x="700000" y="441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31" name="cardt3"/>
          <p:cNvSpPr txBox="1"/>
          <p:nvPr/>
        </p:nvSpPr>
        <p:spPr>
          <a:xfrm>
            <a:off x="920000" y="4390000"/>
            <a:ext cx="3043333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科普创作者</a:t>
            </a:r>
          </a:p>
        </p:txBody>
      </p:sp>
      <p:sp>
        <p:nvSpPr>
          <p:cNvPr id="232" name="cardd3"/>
          <p:cNvSpPr txBox="1"/>
          <p:nvPr/>
        </p:nvSpPr>
        <p:spPr>
          <a:xfrm>
            <a:off x="920000" y="4810000"/>
            <a:ext cx="3043333" cy="12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导出 PNG / CSV，图表直接用于文章视频</a:t>
            </a:r>
          </a:p>
        </p:txBody>
      </p:sp>
      <p:sp>
        <p:nvSpPr>
          <p:cNvPr id="233" name="card4"/>
          <p:cNvSpPr/>
          <p:nvPr/>
        </p:nvSpPr>
        <p:spPr>
          <a:xfrm>
            <a:off x="4363333" y="4150000"/>
            <a:ext cx="3463333" cy="20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34" name="cardbar4"/>
          <p:cNvSpPr/>
          <p:nvPr/>
        </p:nvSpPr>
        <p:spPr>
          <a:xfrm>
            <a:off x="4363333" y="441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35" name="cardt4"/>
          <p:cNvSpPr txBox="1"/>
          <p:nvPr/>
        </p:nvSpPr>
        <p:spPr>
          <a:xfrm>
            <a:off x="4583333" y="4390000"/>
            <a:ext cx="3043333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科研辅助</a:t>
            </a:r>
          </a:p>
        </p:txBody>
      </p:sp>
      <p:sp>
        <p:nvSpPr>
          <p:cNvPr id="236" name="cardd4"/>
          <p:cNvSpPr txBox="1"/>
          <p:nvPr/>
        </p:nvSpPr>
        <p:spPr>
          <a:xfrm>
            <a:off x="4583333" y="4810000"/>
            <a:ext cx="3043333" cy="12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精度分级判断可靠性，CSV 数据导出分析</a:t>
            </a:r>
          </a:p>
        </p:txBody>
      </p:sp>
      <p:sp>
        <p:nvSpPr>
          <p:cNvPr id="237" name="card5"/>
          <p:cNvSpPr/>
          <p:nvPr/>
        </p:nvSpPr>
        <p:spPr>
          <a:xfrm>
            <a:off x="8026666" y="4150000"/>
            <a:ext cx="3463333" cy="20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38" name="cardbar5"/>
          <p:cNvSpPr/>
          <p:nvPr/>
        </p:nvSpPr>
        <p:spPr>
          <a:xfrm>
            <a:off x="8026666" y="441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39" name="cardt5"/>
          <p:cNvSpPr txBox="1"/>
          <p:nvPr/>
        </p:nvSpPr>
        <p:spPr>
          <a:xfrm>
            <a:off x="8246666" y="4390000"/>
            <a:ext cx="3043333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科幻创作</a:t>
            </a:r>
          </a:p>
        </p:txBody>
      </p:sp>
      <p:sp>
        <p:nvSpPr>
          <p:cNvPr id="240" name="cardd5"/>
          <p:cNvSpPr txBox="1"/>
          <p:nvPr/>
        </p:nvSpPr>
        <p:spPr>
          <a:xfrm>
            <a:off x="8246666" y="4810000"/>
            <a:ext cx="3043333" cy="12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系外行星尺度巡览，多恒星系统布局参考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bottomline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64" name="pagenum"/>
          <p:cNvSpPr txBox="1"/>
          <p:nvPr/>
        </p:nvSpPr>
        <p:spPr>
          <a:xfrm>
            <a:off x="11192000" y="6298000"/>
            <a:ext cx="700000" cy="3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30000"/>
              </a:lnSpc>
              <a:buNone/>
            </a:pPr>
            <a:r>
              <a:rPr lang="zh-CN" altLang="en-US" sz="1000" dirty="0">
                <a:solidFill>
                  <a:srgbClr val="A0A0A0"/>
                </a:solidFill>
                <a:latin typeface="Microsoft YaHei UI"/>
                <a:ea typeface="Microsoft YaHei UI"/>
              </a:rPr>
              <a:t>09 / 19</a:t>
            </a:r>
          </a:p>
        </p:txBody>
      </p:sp>
      <p:sp>
        <p:nvSpPr>
          <p:cNvPr id="265" name="tag"/>
          <p:cNvSpPr txBox="1"/>
          <p:nvPr/>
        </p:nvSpPr>
        <p:spPr>
          <a:xfrm>
            <a:off x="700000" y="380000"/>
            <a:ext cx="8000000" cy="28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100" b="1" spc="300" dirty="0">
                <a:solidFill>
                  <a:srgbClr val="A0A0A0"/>
                </a:solidFill>
                <a:latin typeface="Microsoft YaHei UI"/>
                <a:ea typeface="Microsoft YaHei UI"/>
              </a:rPr>
              <a:t>08  CODEARTS ★ 核心评分点</a:t>
            </a:r>
          </a:p>
        </p:txBody>
      </p:sp>
      <p:sp>
        <p:nvSpPr>
          <p:cNvPr id="266" name="titlebar"/>
          <p:cNvSpPr/>
          <p:nvPr/>
        </p:nvSpPr>
        <p:spPr>
          <a:xfrm>
            <a:off x="700000" y="820000"/>
            <a:ext cx="80000" cy="64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67" name="title"/>
          <p:cNvSpPr txBox="1"/>
          <p:nvPr/>
        </p:nvSpPr>
        <p:spPr>
          <a:xfrm>
            <a:off x="900000" y="760000"/>
            <a:ext cx="105000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3200" b="1" dirty="0">
                <a:solidFill>
                  <a:srgbClr val="E5E5E5"/>
                </a:solidFill>
                <a:latin typeface="Microsoft YaHei UI"/>
                <a:ea typeface="Microsoft YaHei UI"/>
              </a:rPr>
              <a:t>华为云码道 CodeArts 使用深度</a:t>
            </a:r>
          </a:p>
        </p:txBody>
      </p:sp>
      <p:sp>
        <p:nvSpPr>
          <p:cNvPr id="246" name="kpi0"/>
          <p:cNvSpPr/>
          <p:nvPr/>
        </p:nvSpPr>
        <p:spPr>
          <a:xfrm>
            <a:off x="700000" y="1900000"/>
            <a:ext cx="2510000" cy="150000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47" name="kpibar0"/>
          <p:cNvSpPr txBox="1"/>
          <p:nvPr/>
        </p:nvSpPr>
        <p:spPr>
          <a:xfrm>
            <a:off x="1655000" y="2140000"/>
            <a:ext cx="600000" cy="1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800" dirty="0">
                <a:solidFill>
                  <a:srgbClr val="E87D0D"/>
                </a:solidFill>
                <a:latin typeface="Microsoft YaHei UI"/>
                <a:ea typeface="Microsoft YaHei UI"/>
              </a:rPr>
              <a:t/>
            </a:r>
          </a:p>
        </p:txBody>
      </p:sp>
      <p:sp>
        <p:nvSpPr>
          <p:cNvPr id="248" name="kpin0"/>
          <p:cNvSpPr txBox="1"/>
          <p:nvPr/>
        </p:nvSpPr>
        <p:spPr>
          <a:xfrm>
            <a:off x="700000" y="2220000"/>
            <a:ext cx="2510000" cy="56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rgbClr val="E87D0D"/>
                </a:solidFill>
                <a:latin typeface="Microsoft YaHei UI"/>
                <a:ea typeface="Microsoft YaHei UI"/>
              </a:rPr>
              <a:t>15+</a:t>
            </a:r>
          </a:p>
        </p:txBody>
      </p:sp>
      <p:sp>
        <p:nvSpPr>
          <p:cNvPr id="249" name="kpil0"/>
          <p:cNvSpPr txBox="1"/>
          <p:nvPr/>
        </p:nvSpPr>
        <p:spPr>
          <a:xfrm>
            <a:off x="700000" y="2840000"/>
            <a:ext cx="2510000" cy="4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码道生成/补全模块</a:t>
            </a:r>
          </a:p>
        </p:txBody>
      </p:sp>
      <p:sp>
        <p:nvSpPr>
          <p:cNvPr id="250" name="kpi1"/>
          <p:cNvSpPr/>
          <p:nvPr/>
        </p:nvSpPr>
        <p:spPr>
          <a:xfrm>
            <a:off x="3460000" y="1900000"/>
            <a:ext cx="2510000" cy="150000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51" name="kpibar1"/>
          <p:cNvSpPr txBox="1"/>
          <p:nvPr/>
        </p:nvSpPr>
        <p:spPr>
          <a:xfrm>
            <a:off x="4415000" y="2140000"/>
            <a:ext cx="600000" cy="1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800" dirty="0">
                <a:solidFill>
                  <a:srgbClr val="E87D0D"/>
                </a:solidFill>
                <a:latin typeface="Microsoft YaHei UI"/>
                <a:ea typeface="Microsoft YaHei UI"/>
              </a:rPr>
              <a:t/>
            </a:r>
          </a:p>
        </p:txBody>
      </p:sp>
      <p:sp>
        <p:nvSpPr>
          <p:cNvPr id="252" name="kpin1"/>
          <p:cNvSpPr txBox="1"/>
          <p:nvPr/>
        </p:nvSpPr>
        <p:spPr>
          <a:xfrm>
            <a:off x="3460000" y="2220000"/>
            <a:ext cx="2510000" cy="56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rgbClr val="E87D0D"/>
                </a:solidFill>
                <a:latin typeface="Microsoft YaHei UI"/>
                <a:ea typeface="Microsoft YaHei UI"/>
              </a:rPr>
              <a:t>5</a:t>
            </a:r>
          </a:p>
        </p:txBody>
      </p:sp>
      <p:sp>
        <p:nvSpPr>
          <p:cNvPr id="253" name="kpil1"/>
          <p:cNvSpPr txBox="1"/>
          <p:nvPr/>
        </p:nvSpPr>
        <p:spPr>
          <a:xfrm>
            <a:off x="3460000" y="2840000"/>
            <a:ext cx="2510000" cy="4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关键 bug 码道定位修复</a:t>
            </a:r>
          </a:p>
        </p:txBody>
      </p:sp>
      <p:sp>
        <p:nvSpPr>
          <p:cNvPr id="254" name="kpi2"/>
          <p:cNvSpPr/>
          <p:nvPr/>
        </p:nvSpPr>
        <p:spPr>
          <a:xfrm>
            <a:off x="6220000" y="1900000"/>
            <a:ext cx="2510000" cy="150000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55" name="kpibar2"/>
          <p:cNvSpPr txBox="1"/>
          <p:nvPr/>
        </p:nvSpPr>
        <p:spPr>
          <a:xfrm>
            <a:off x="7175000" y="2140000"/>
            <a:ext cx="600000" cy="1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800" dirty="0">
                <a:solidFill>
                  <a:srgbClr val="E87D0D"/>
                </a:solidFill>
                <a:latin typeface="Microsoft YaHei UI"/>
                <a:ea typeface="Microsoft YaHei UI"/>
              </a:rPr>
              <a:t/>
            </a:r>
          </a:p>
        </p:txBody>
      </p:sp>
      <p:sp>
        <p:nvSpPr>
          <p:cNvPr id="256" name="kpin2"/>
          <p:cNvSpPr txBox="1"/>
          <p:nvPr/>
        </p:nvSpPr>
        <p:spPr>
          <a:xfrm>
            <a:off x="6220000" y="2220000"/>
            <a:ext cx="2510000" cy="56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rgbClr val="E87D0D"/>
                </a:solidFill>
                <a:latin typeface="Microsoft YaHei UI"/>
                <a:ea typeface="Microsoft YaHei UI"/>
              </a:rPr>
              <a:t>78</a:t>
            </a:r>
          </a:p>
        </p:txBody>
      </p:sp>
      <p:sp>
        <p:nvSpPr>
          <p:cNvPr id="257" name="kpil2"/>
          <p:cNvSpPr txBox="1"/>
          <p:nvPr/>
        </p:nvSpPr>
        <p:spPr>
          <a:xfrm>
            <a:off x="6220000" y="2840000"/>
            <a:ext cx="2510000" cy="4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项验收自测全部通过</a:t>
            </a:r>
          </a:p>
        </p:txBody>
      </p:sp>
      <p:sp>
        <p:nvSpPr>
          <p:cNvPr id="258" name="kpi3"/>
          <p:cNvSpPr/>
          <p:nvPr/>
        </p:nvSpPr>
        <p:spPr>
          <a:xfrm>
            <a:off x="8980000" y="1900000"/>
            <a:ext cx="2510000" cy="150000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59" name="kpibar3"/>
          <p:cNvSpPr txBox="1"/>
          <p:nvPr/>
        </p:nvSpPr>
        <p:spPr>
          <a:xfrm>
            <a:off x="9935000" y="2140000"/>
            <a:ext cx="600000" cy="1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800" dirty="0">
                <a:solidFill>
                  <a:srgbClr val="E87D0D"/>
                </a:solidFill>
                <a:latin typeface="Microsoft YaHei UI"/>
                <a:ea typeface="Microsoft YaHei UI"/>
              </a:rPr>
              <a:t/>
            </a:r>
          </a:p>
        </p:txBody>
      </p:sp>
      <p:sp>
        <p:nvSpPr>
          <p:cNvPr id="260" name="kpin3"/>
          <p:cNvSpPr txBox="1"/>
          <p:nvPr/>
        </p:nvSpPr>
        <p:spPr>
          <a:xfrm>
            <a:off x="8980000" y="2220000"/>
            <a:ext cx="2510000" cy="56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rgbClr val="E87D0D"/>
                </a:solidFill>
                <a:latin typeface="Microsoft YaHei UI"/>
                <a:ea typeface="Microsoft YaHei UI"/>
              </a:rPr>
              <a:t>4-6×</a:t>
            </a:r>
          </a:p>
        </p:txBody>
      </p:sp>
      <p:sp>
        <p:nvSpPr>
          <p:cNvPr id="261" name="kpil3"/>
          <p:cNvSpPr txBox="1"/>
          <p:nvPr/>
        </p:nvSpPr>
        <p:spPr>
          <a:xfrm>
            <a:off x="8980000" y="2840000"/>
            <a:ext cx="2510000" cy="4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开发效率提升</a:t>
            </a:r>
          </a:p>
        </p:txBody>
      </p:sp>
      <p:sp>
        <p:nvSpPr>
          <p:cNvPr id="262" name="bullets"/>
          <p:cNvSpPr txBox="1"/>
          <p:nvPr/>
        </p:nvSpPr>
        <p:spPr>
          <a:xfrm>
            <a:off x="700000" y="3900000"/>
            <a:ext cx="10790000" cy="2058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4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项目搭建</a:t>
            </a:r>
            <a:r>
              <a:rPr lang="zh-CN" altLang="en-US" sz="1200" dirty="0">
                <a:solidFill>
                  <a:srgbClr val="A0A0A0"/>
                </a:solidFill>
                <a:latin typeface="Microsoft YaHei UI"/>
                <a:ea typeface="Microsoft YaHei UI"/>
              </a:rPr>
              <a:t>  从需求文档到代码结构，全程码道辅助生成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buNone/>
            </a:pPr>
            <a:r>
              <a:rPr lang="zh-CN" altLang="en-US" sz="14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代码生成</a:t>
            </a:r>
            <a:r>
              <a:rPr lang="zh-CN" altLang="en-US" sz="1200" dirty="0">
                <a:solidFill>
                  <a:srgbClr val="A0A0A0"/>
                </a:solidFill>
                <a:latin typeface="Microsoft YaHei UI"/>
                <a:ea typeface="Microsoft YaHei UI"/>
              </a:rPr>
              <a:t>  数据层 / 渲染层 / UI 层 / 天体力学与天象推演 / 教学场景核心代码均由码道完成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buNone/>
            </a:pPr>
            <a:r>
              <a:rPr lang="zh-CN" altLang="en-US" sz="14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调试排错</a:t>
            </a:r>
            <a:r>
              <a:rPr lang="zh-CN" altLang="en-US" sz="1200" dirty="0">
                <a:solidFill>
                  <a:srgbClr val="A0A0A0"/>
                </a:solidFill>
                <a:latin typeface="Microsoft YaHei UI"/>
                <a:ea typeface="Microsoft YaHei UI"/>
              </a:rPr>
              <a:t>  PyQt5 API 差异、质心参考系回退、中文字体等 bug 定位修复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buNone/>
            </a:pPr>
            <a:r>
              <a:rPr lang="zh-CN" altLang="en-US" sz="14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人机分工</a:t>
            </a:r>
            <a:r>
              <a:rPr lang="zh-CN" altLang="en-US" sz="1200" dirty="0">
                <a:solidFill>
                  <a:srgbClr val="A0A0A0"/>
                </a:solidFill>
                <a:latin typeface="Microsoft YaHei UI"/>
                <a:ea typeface="Microsoft YaHei UI"/>
              </a:rPr>
              <a:t>  人决策选型与标准，码道执行编码、自测、文档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bottomline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85" name="pagenum"/>
          <p:cNvSpPr txBox="1"/>
          <p:nvPr/>
        </p:nvSpPr>
        <p:spPr>
          <a:xfrm>
            <a:off x="11192000" y="6298000"/>
            <a:ext cx="700000" cy="3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30000"/>
              </a:lnSpc>
              <a:buNone/>
            </a:pPr>
            <a:r>
              <a:rPr lang="zh-CN" altLang="en-US" sz="1000" dirty="0">
                <a:solidFill>
                  <a:srgbClr val="A0A0A0"/>
                </a:solidFill>
                <a:latin typeface="Microsoft YaHei UI"/>
                <a:ea typeface="Microsoft YaHei UI"/>
              </a:rPr>
              <a:t>10 / 19</a:t>
            </a:r>
          </a:p>
        </p:txBody>
      </p:sp>
      <p:sp>
        <p:nvSpPr>
          <p:cNvPr id="286" name="tag"/>
          <p:cNvSpPr txBox="1"/>
          <p:nvPr/>
        </p:nvSpPr>
        <p:spPr>
          <a:xfrm>
            <a:off x="700000" y="380000"/>
            <a:ext cx="8000000" cy="28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100" b="1" spc="300" dirty="0">
                <a:solidFill>
                  <a:srgbClr val="A0A0A0"/>
                </a:solidFill>
                <a:latin typeface="Microsoft YaHei UI"/>
                <a:ea typeface="Microsoft YaHei UI"/>
              </a:rPr>
              <a:t>09  TECH STACK</a:t>
            </a:r>
          </a:p>
        </p:txBody>
      </p:sp>
      <p:sp>
        <p:nvSpPr>
          <p:cNvPr id="287" name="titlebar"/>
          <p:cNvSpPr/>
          <p:nvPr/>
        </p:nvSpPr>
        <p:spPr>
          <a:xfrm>
            <a:off x="700000" y="820000"/>
            <a:ext cx="80000" cy="64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88" name="title"/>
          <p:cNvSpPr txBox="1"/>
          <p:nvPr/>
        </p:nvSpPr>
        <p:spPr>
          <a:xfrm>
            <a:off x="900000" y="760000"/>
            <a:ext cx="105000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3200" b="1" dirty="0">
                <a:solidFill>
                  <a:srgbClr val="E5E5E5"/>
                </a:solidFill>
                <a:latin typeface="Microsoft YaHei UI"/>
                <a:ea typeface="Microsoft YaHei UI"/>
              </a:rPr>
              <a:t>技术架构</a:t>
            </a:r>
          </a:p>
        </p:txBody>
      </p:sp>
      <p:sp>
        <p:nvSpPr>
          <p:cNvPr id="268" name="card0"/>
          <p:cNvSpPr/>
          <p:nvPr/>
        </p:nvSpPr>
        <p:spPr>
          <a:xfrm>
            <a:off x="700000" y="1950000"/>
            <a:ext cx="5300000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69" name="cardbar0"/>
          <p:cNvSpPr/>
          <p:nvPr/>
        </p:nvSpPr>
        <p:spPr>
          <a:xfrm>
            <a:off x="700000" y="221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70" name="cardt0"/>
          <p:cNvSpPr txBox="1"/>
          <p:nvPr/>
        </p:nvSpPr>
        <p:spPr>
          <a:xfrm>
            <a:off x="920000" y="2190000"/>
            <a:ext cx="4880000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core 计算层</a:t>
            </a:r>
          </a:p>
        </p:txBody>
      </p:sp>
      <p:sp>
        <p:nvSpPr>
          <p:cNvPr id="271" name="cardd0"/>
          <p:cNvSpPr txBox="1"/>
          <p:nvPr/>
        </p:nvSpPr>
        <p:spPr>
          <a:xfrm>
            <a:off x="920000" y="2610000"/>
            <a:ext cx="4880000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开普勒方程牛顿迭代 / 4 参考系相对运动 / 天象推演求根 / 观测者与地表视角 / 系外行星观测特征 / 儒略日时间系统</a:t>
            </a:r>
          </a:p>
        </p:txBody>
      </p:sp>
      <p:sp>
        <p:nvSpPr>
          <p:cNvPr id="272" name="card1"/>
          <p:cNvSpPr/>
          <p:nvPr/>
        </p:nvSpPr>
        <p:spPr>
          <a:xfrm>
            <a:off x="700000" y="4100000"/>
            <a:ext cx="5300000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73" name="cardbar1"/>
          <p:cNvSpPr/>
          <p:nvPr/>
        </p:nvSpPr>
        <p:spPr>
          <a:xfrm>
            <a:off x="700000" y="436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74" name="cardt1"/>
          <p:cNvSpPr txBox="1"/>
          <p:nvPr/>
        </p:nvSpPr>
        <p:spPr>
          <a:xfrm>
            <a:off x="920000" y="4340000"/>
            <a:ext cx="4880000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data 数据层</a:t>
            </a:r>
          </a:p>
        </p:txBody>
      </p:sp>
      <p:sp>
        <p:nvSpPr>
          <p:cNvPr id="275" name="cardd1"/>
          <p:cNvSpPr txBox="1"/>
          <p:nvPr/>
        </p:nvSpPr>
        <p:spPr>
          <a:xfrm>
            <a:off x="920000" y="4760000"/>
            <a:ext cx="4880000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Body 统一模型 / 恒星系（系群）分组 / 赤道→黄道转换 / 主带小行星带生成 / CSV 完整目录加载</a:t>
            </a:r>
          </a:p>
        </p:txBody>
      </p:sp>
      <p:sp>
        <p:nvSpPr>
          <p:cNvPr id="276" name="card0"/>
          <p:cNvSpPr/>
          <p:nvPr/>
        </p:nvSpPr>
        <p:spPr>
          <a:xfrm>
            <a:off x="6200000" y="1950000"/>
            <a:ext cx="5290000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77" name="cardbar0"/>
          <p:cNvSpPr/>
          <p:nvPr/>
        </p:nvSpPr>
        <p:spPr>
          <a:xfrm>
            <a:off x="6200000" y="221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78" name="cardt0"/>
          <p:cNvSpPr txBox="1"/>
          <p:nvPr/>
        </p:nvSpPr>
        <p:spPr>
          <a:xfrm>
            <a:off x="6420000" y="2190000"/>
            <a:ext cx="4870000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scene 渲染层</a:t>
            </a:r>
          </a:p>
        </p:txBody>
      </p:sp>
      <p:sp>
        <p:nvSpPr>
          <p:cNvPr id="279" name="cardd0"/>
          <p:cNvSpPr txBox="1"/>
          <p:nvPr/>
        </p:nvSpPr>
        <p:spPr>
          <a:xfrm>
            <a:off x="6420000" y="2610000"/>
            <a:ext cx="4870000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OpenGL 3.3 Core 管线 / 点精灵+线着色器 / 浮点原点偏移 / 程序化表面贴图 / 体积星云 / 二维视口</a:t>
            </a:r>
          </a:p>
        </p:txBody>
      </p:sp>
      <p:sp>
        <p:nvSpPr>
          <p:cNvPr id="280" name="card1"/>
          <p:cNvSpPr/>
          <p:nvPr/>
        </p:nvSpPr>
        <p:spPr>
          <a:xfrm>
            <a:off x="6200000" y="4100000"/>
            <a:ext cx="5290000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81" name="cardbar1"/>
          <p:cNvSpPr/>
          <p:nvPr/>
        </p:nvSpPr>
        <p:spPr>
          <a:xfrm>
            <a:off x="6200000" y="436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82" name="cardt1"/>
          <p:cNvSpPr txBox="1"/>
          <p:nvPr/>
        </p:nvSpPr>
        <p:spPr>
          <a:xfrm>
            <a:off x="6420000" y="4340000"/>
            <a:ext cx="4870000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ui 界面层</a:t>
            </a:r>
          </a:p>
        </p:txBody>
      </p:sp>
      <p:sp>
        <p:nvSpPr>
          <p:cNvPr id="283" name="cardd1"/>
          <p:cNvSpPr txBox="1"/>
          <p:nvPr/>
        </p:nvSpPr>
        <p:spPr>
          <a:xfrm>
            <a:off x="6420000" y="4760000"/>
            <a:ext cx="4870000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PyQt5 深色主题 / 启动器双模式 / 7 标签页面板 / matplotlib 嵌入图表 / 时间轴 / 天体树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bottomline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91" name="pagenum"/>
          <p:cNvSpPr txBox="1"/>
          <p:nvPr/>
        </p:nvSpPr>
        <p:spPr>
          <a:xfrm>
            <a:off x="11192000" y="6298000"/>
            <a:ext cx="700000" cy="3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30000"/>
              </a:lnSpc>
              <a:buNone/>
            </a:pPr>
            <a:r>
              <a:rPr lang="zh-CN" altLang="en-US" sz="1000" dirty="0">
                <a:solidFill>
                  <a:srgbClr val="A0A0A0"/>
                </a:solidFill>
                <a:latin typeface="Microsoft YaHei UI"/>
                <a:ea typeface="Microsoft YaHei UI"/>
              </a:rPr>
              <a:t>11 / 19</a:t>
            </a:r>
          </a:p>
        </p:txBody>
      </p:sp>
      <p:sp>
        <p:nvSpPr>
          <p:cNvPr id="292" name="tag"/>
          <p:cNvSpPr txBox="1"/>
          <p:nvPr/>
        </p:nvSpPr>
        <p:spPr>
          <a:xfrm>
            <a:off x="700000" y="380000"/>
            <a:ext cx="8000000" cy="28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100" b="1" spc="300" dirty="0">
                <a:solidFill>
                  <a:srgbClr val="A0A0A0"/>
                </a:solidFill>
                <a:latin typeface="Microsoft YaHei UI"/>
                <a:ea typeface="Microsoft YaHei UI"/>
              </a:rPr>
              <a:t>10  QUALITY</a:t>
            </a:r>
          </a:p>
        </p:txBody>
      </p:sp>
      <p:sp>
        <p:nvSpPr>
          <p:cNvPr id="293" name="titlebar"/>
          <p:cNvSpPr/>
          <p:nvPr/>
        </p:nvSpPr>
        <p:spPr>
          <a:xfrm>
            <a:off x="700000" y="820000"/>
            <a:ext cx="80000" cy="64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94" name="title"/>
          <p:cNvSpPr txBox="1"/>
          <p:nvPr/>
        </p:nvSpPr>
        <p:spPr>
          <a:xfrm>
            <a:off x="900000" y="760000"/>
            <a:ext cx="105000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3200" b="1" dirty="0">
                <a:solidFill>
                  <a:srgbClr val="E5E5E5"/>
                </a:solidFill>
                <a:latin typeface="Microsoft YaHei UI"/>
                <a:ea typeface="Microsoft YaHei UI"/>
              </a:rPr>
              <a:t>工程质量</a:t>
            </a:r>
          </a:p>
        </p:txBody>
      </p:sp>
      <p:sp>
        <p:nvSpPr>
          <p:cNvPr id="289" name="bullets"/>
          <p:cNvSpPr txBox="1"/>
          <p:nvPr/>
        </p:nvSpPr>
        <p:spPr>
          <a:xfrm>
            <a:off x="700000" y="1950000"/>
            <a:ext cx="10790000" cy="4008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50000"/>
              </a:lnSpc>
              <a:buNone/>
            </a:pPr>
            <a:r>
              <a:rPr lang="zh-CN" altLang="en-US" sz="15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500" b="1" dirty="0">
                <a:solidFill>
                  <a:srgbClr val="E5E5E5"/>
                </a:solidFill>
                <a:latin typeface="Microsoft YaHei UI"/>
                <a:ea typeface="Microsoft YaHei UI"/>
              </a:rPr>
              <a:t>性能优化</a:t>
            </a:r>
            <a:r>
              <a:rPr lang="zh-CN" altLang="en-US" sz="1300" dirty="0">
                <a:solidFill>
                  <a:srgbClr val="A0A0A0"/>
                </a:solidFill>
                <a:latin typeface="Microsoft YaHei UI"/>
                <a:ea typeface="Microsoft YaHei UI"/>
              </a:rPr>
              <a:t>  浮点原点偏移（double→float32，跨 18 数量级）；动态 near/far；视锥剔除；小行星带 5 万点 GPU 求解；轨道单次 draw call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5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500" b="1" dirty="0">
                <a:solidFill>
                  <a:srgbClr val="E5E5E5"/>
                </a:solidFill>
                <a:latin typeface="Microsoft YaHei UI"/>
                <a:ea typeface="Microsoft YaHei UI"/>
              </a:rPr>
              <a:t>代码质量</a:t>
            </a:r>
            <a:r>
              <a:rPr lang="zh-CN" altLang="en-US" sz="1300" dirty="0">
                <a:solidFill>
                  <a:srgbClr val="A0A0A0"/>
                </a:solidFill>
                <a:latin typeface="Microsoft YaHei UI"/>
                <a:ea typeface="Microsoft YaHei UI"/>
              </a:rPr>
              <a:t>  8 个阶段自测脚本全部通过，78 项验收自测全通过；数据校验 NaN/负数→None；科学诚实性原则贯穿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5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500" b="1" dirty="0">
                <a:solidFill>
                  <a:srgbClr val="E5E5E5"/>
                </a:solidFill>
                <a:latin typeface="Microsoft YaHei UI"/>
                <a:ea typeface="Microsoft YaHei UI"/>
              </a:rPr>
              <a:t>可扩展性</a:t>
            </a:r>
            <a:r>
              <a:rPr lang="zh-CN" altLang="en-US" sz="1300" dirty="0">
                <a:solidFill>
                  <a:srgbClr val="A0A0A0"/>
                </a:solidFill>
                <a:latin typeface="Microsoft YaHei UI"/>
                <a:ea typeface="Microsoft YaHei UI"/>
              </a:rPr>
              <a:t>  core/data/scene/ui 四层解耦；CSV 支持完整目录扩展；教学场景与分析面板可持续增加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bottomline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12" name="pagenum"/>
          <p:cNvSpPr txBox="1"/>
          <p:nvPr/>
        </p:nvSpPr>
        <p:spPr>
          <a:xfrm>
            <a:off x="11192000" y="6298000"/>
            <a:ext cx="700000" cy="3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30000"/>
              </a:lnSpc>
              <a:buNone/>
            </a:pPr>
            <a:r>
              <a:rPr lang="zh-CN" altLang="en-US" sz="1000" dirty="0">
                <a:solidFill>
                  <a:srgbClr val="A0A0A0"/>
                </a:solidFill>
                <a:latin typeface="Microsoft YaHei UI"/>
                <a:ea typeface="Microsoft YaHei UI"/>
              </a:rPr>
              <a:t>12 / 19</a:t>
            </a:r>
          </a:p>
        </p:txBody>
      </p:sp>
      <p:sp>
        <p:nvSpPr>
          <p:cNvPr id="313" name="tag"/>
          <p:cNvSpPr txBox="1"/>
          <p:nvPr/>
        </p:nvSpPr>
        <p:spPr>
          <a:xfrm>
            <a:off x="700000" y="380000"/>
            <a:ext cx="8000000" cy="28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100" b="1" spc="300" dirty="0">
                <a:solidFill>
                  <a:srgbClr val="A0A0A0"/>
                </a:solidFill>
                <a:latin typeface="Microsoft YaHei UI"/>
                <a:ea typeface="Microsoft YaHei UI"/>
              </a:rPr>
              <a:t>11  INNOVATION</a:t>
            </a:r>
          </a:p>
        </p:txBody>
      </p:sp>
      <p:sp>
        <p:nvSpPr>
          <p:cNvPr id="314" name="titlebar"/>
          <p:cNvSpPr/>
          <p:nvPr/>
        </p:nvSpPr>
        <p:spPr>
          <a:xfrm>
            <a:off x="700000" y="820000"/>
            <a:ext cx="80000" cy="64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15" name="title"/>
          <p:cNvSpPr txBox="1"/>
          <p:nvPr/>
        </p:nvSpPr>
        <p:spPr>
          <a:xfrm>
            <a:off x="900000" y="760000"/>
            <a:ext cx="105000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3200" b="1" dirty="0">
                <a:solidFill>
                  <a:srgbClr val="E5E5E5"/>
                </a:solidFill>
                <a:latin typeface="Microsoft YaHei UI"/>
                <a:ea typeface="Microsoft YaHei UI"/>
              </a:rPr>
              <a:t>创新点</a:t>
            </a:r>
          </a:p>
        </p:txBody>
      </p:sp>
      <p:sp>
        <p:nvSpPr>
          <p:cNvPr id="295" name="card0"/>
          <p:cNvSpPr/>
          <p:nvPr/>
        </p:nvSpPr>
        <p:spPr>
          <a:xfrm>
            <a:off x="700000" y="1950000"/>
            <a:ext cx="5295000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96" name="cardbar0"/>
          <p:cNvSpPr/>
          <p:nvPr/>
        </p:nvSpPr>
        <p:spPr>
          <a:xfrm>
            <a:off x="700000" y="221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97" name="cardt0"/>
          <p:cNvSpPr txBox="1"/>
          <p:nvPr/>
        </p:nvSpPr>
        <p:spPr>
          <a:xfrm>
            <a:off x="920000" y="2190000"/>
            <a:ext cx="4875000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功能创新</a:t>
            </a:r>
          </a:p>
        </p:txBody>
      </p:sp>
      <p:sp>
        <p:nvSpPr>
          <p:cNvPr id="298" name="cardd0"/>
          <p:cNvSpPr txBox="1"/>
          <p:nvPr/>
        </p:nvSpPr>
        <p:spPr>
          <a:xfrm>
            <a:off x="920000" y="2610000"/>
            <a:ext cx="4875000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双行星相对运动分析（4 参考系 + 会合周期）+ 天象推演（六类事件求根）—— 现有工具均无</a:t>
            </a:r>
          </a:p>
        </p:txBody>
      </p:sp>
      <p:sp>
        <p:nvSpPr>
          <p:cNvPr id="299" name="card1"/>
          <p:cNvSpPr/>
          <p:nvPr/>
        </p:nvSpPr>
        <p:spPr>
          <a:xfrm>
            <a:off x="6195000" y="1950000"/>
            <a:ext cx="5295000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0" name="cardbar1"/>
          <p:cNvSpPr/>
          <p:nvPr/>
        </p:nvSpPr>
        <p:spPr>
          <a:xfrm>
            <a:off x="6195000" y="221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1" name="cardt1"/>
          <p:cNvSpPr txBox="1"/>
          <p:nvPr/>
        </p:nvSpPr>
        <p:spPr>
          <a:xfrm>
            <a:off x="6415000" y="2190000"/>
            <a:ext cx="4875000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技术创新</a:t>
            </a:r>
          </a:p>
        </p:txBody>
      </p:sp>
      <p:sp>
        <p:nvSpPr>
          <p:cNvPr id="302" name="cardd1"/>
          <p:cNvSpPr txBox="1"/>
          <p:nvPr/>
        </p:nvSpPr>
        <p:spPr>
          <a:xfrm>
            <a:off x="6415000" y="2610000"/>
            <a:ext cx="4875000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浮点原点偏移渲染，跨 18 个数量级无精度爆炸 + 对数缩放</a:t>
            </a:r>
          </a:p>
        </p:txBody>
      </p:sp>
      <p:sp>
        <p:nvSpPr>
          <p:cNvPr id="303" name="card2"/>
          <p:cNvSpPr/>
          <p:nvPr/>
        </p:nvSpPr>
        <p:spPr>
          <a:xfrm>
            <a:off x="700000" y="4100000"/>
            <a:ext cx="5295000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4" name="cardbar2"/>
          <p:cNvSpPr/>
          <p:nvPr/>
        </p:nvSpPr>
        <p:spPr>
          <a:xfrm>
            <a:off x="700000" y="436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5" name="cardt2"/>
          <p:cNvSpPr txBox="1"/>
          <p:nvPr/>
        </p:nvSpPr>
        <p:spPr>
          <a:xfrm>
            <a:off x="920000" y="4340000"/>
            <a:ext cx="4875000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体验创新</a:t>
            </a:r>
          </a:p>
        </p:txBody>
      </p:sp>
      <p:sp>
        <p:nvSpPr>
          <p:cNvPr id="306" name="cardd2"/>
          <p:cNvSpPr txBox="1"/>
          <p:nvPr/>
        </p:nvSpPr>
        <p:spPr>
          <a:xfrm>
            <a:off x="920000" y="4760000"/>
            <a:ext cx="4875000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Blender 式视角 + 3D/2D 双视口 + 地表第一人称全景 + 6 个教学场景</a:t>
            </a:r>
          </a:p>
        </p:txBody>
      </p:sp>
      <p:sp>
        <p:nvSpPr>
          <p:cNvPr id="307" name="card3"/>
          <p:cNvSpPr/>
          <p:nvPr/>
        </p:nvSpPr>
        <p:spPr>
          <a:xfrm>
            <a:off x="6195000" y="4100000"/>
            <a:ext cx="5295000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8" name="cardbar3"/>
          <p:cNvSpPr/>
          <p:nvPr/>
        </p:nvSpPr>
        <p:spPr>
          <a:xfrm>
            <a:off x="6195000" y="436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9" name="cardt3"/>
          <p:cNvSpPr txBox="1"/>
          <p:nvPr/>
        </p:nvSpPr>
        <p:spPr>
          <a:xfrm>
            <a:off x="6415000" y="4340000"/>
            <a:ext cx="4875000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数据创新</a:t>
            </a:r>
          </a:p>
        </p:txBody>
      </p:sp>
      <p:sp>
        <p:nvSpPr>
          <p:cNvPr id="310" name="cardd3"/>
          <p:cNvSpPr txBox="1"/>
          <p:nvPr/>
        </p:nvSpPr>
        <p:spPr>
          <a:xfrm>
            <a:off x="6415000" y="4760000"/>
            <a:ext cx="4875000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精度分级 A/B/C 标注 + 科学诚实性原则（缺失不伪造、假设可复现）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bottomline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18" name="pagenum"/>
          <p:cNvSpPr txBox="1"/>
          <p:nvPr/>
        </p:nvSpPr>
        <p:spPr>
          <a:xfrm>
            <a:off x="11192000" y="6298000"/>
            <a:ext cx="700000" cy="3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30000"/>
              </a:lnSpc>
              <a:buNone/>
            </a:pPr>
            <a:r>
              <a:rPr lang="zh-CN" altLang="en-US" sz="1000" dirty="0">
                <a:solidFill>
                  <a:srgbClr val="A0A0A0"/>
                </a:solidFill>
                <a:latin typeface="Microsoft YaHei UI"/>
                <a:ea typeface="Microsoft YaHei UI"/>
              </a:rPr>
              <a:t>13 / 19</a:t>
            </a:r>
          </a:p>
        </p:txBody>
      </p:sp>
      <p:sp>
        <p:nvSpPr>
          <p:cNvPr id="319" name="tag"/>
          <p:cNvSpPr txBox="1"/>
          <p:nvPr/>
        </p:nvSpPr>
        <p:spPr>
          <a:xfrm>
            <a:off x="700000" y="380000"/>
            <a:ext cx="8000000" cy="28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100" b="1" spc="300" dirty="0">
                <a:solidFill>
                  <a:srgbClr val="A0A0A0"/>
                </a:solidFill>
                <a:latin typeface="Microsoft YaHei UI"/>
                <a:ea typeface="Microsoft YaHei UI"/>
              </a:rPr>
              <a:t>12  PROFESSIONAL</a:t>
            </a:r>
          </a:p>
        </p:txBody>
      </p:sp>
      <p:sp>
        <p:nvSpPr>
          <p:cNvPr id="320" name="titlebar"/>
          <p:cNvSpPr/>
          <p:nvPr/>
        </p:nvSpPr>
        <p:spPr>
          <a:xfrm>
            <a:off x="700000" y="820000"/>
            <a:ext cx="80000" cy="64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21" name="title"/>
          <p:cNvSpPr txBox="1"/>
          <p:nvPr/>
        </p:nvSpPr>
        <p:spPr>
          <a:xfrm>
            <a:off x="900000" y="760000"/>
            <a:ext cx="105000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3200" b="1" dirty="0">
                <a:solidFill>
                  <a:srgbClr val="E5E5E5"/>
                </a:solidFill>
                <a:latin typeface="Microsoft YaHei UI"/>
                <a:ea typeface="Microsoft YaHei UI"/>
              </a:rPr>
              <a:t>专业贴合度</a:t>
            </a:r>
          </a:p>
        </p:txBody>
      </p:sp>
      <p:sp>
        <p:nvSpPr>
          <p:cNvPr id="316" name="bullets"/>
          <p:cNvSpPr txBox="1"/>
          <p:nvPr/>
        </p:nvSpPr>
        <p:spPr>
          <a:xfrm>
            <a:off x="700000" y="1950000"/>
            <a:ext cx="10790000" cy="4008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50000"/>
              </a:lnSpc>
              <a:buNone/>
            </a:pPr>
            <a:r>
              <a:rPr lang="zh-CN" altLang="en-US" sz="15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500" b="1" dirty="0">
                <a:solidFill>
                  <a:srgbClr val="E5E5E5"/>
                </a:solidFill>
                <a:latin typeface="Microsoft YaHei UI"/>
                <a:ea typeface="Microsoft YaHei UI"/>
              </a:rPr>
              <a:t>数据来源</a:t>
            </a:r>
            <a:r>
              <a:rPr lang="zh-CN" altLang="en-US" sz="1300" dirty="0">
                <a:solidFill>
                  <a:srgbClr val="A0A0A0"/>
                </a:solidFill>
                <a:latin typeface="Microsoft YaHei UI"/>
                <a:ea typeface="Microsoft YaHei UI"/>
              </a:rPr>
              <a:t>  JPL Horizons / NASA Exoplanet Archive / Hipparcos 三大权威数据源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5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500" b="1" dirty="0">
                <a:solidFill>
                  <a:srgbClr val="E5E5E5"/>
                </a:solidFill>
                <a:latin typeface="Microsoft YaHei UI"/>
                <a:ea typeface="Microsoft YaHei UI"/>
              </a:rPr>
              <a:t>轨道计算</a:t>
            </a:r>
            <a:r>
              <a:rPr lang="zh-CN" altLang="en-US" sz="1300" dirty="0">
                <a:solidFill>
                  <a:srgbClr val="A0A0A0"/>
                </a:solidFill>
                <a:latin typeface="Microsoft YaHei UI"/>
                <a:ea typeface="Microsoft YaHei UI"/>
              </a:rPr>
              <a:t>  JPL 近似根数 + 世纪变率修正，开普勒方程牛顿迭代求解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5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500" b="1" dirty="0">
                <a:solidFill>
                  <a:srgbClr val="E5E5E5"/>
                </a:solidFill>
                <a:latin typeface="Microsoft YaHei UI"/>
                <a:ea typeface="Microsoft YaHei UI"/>
              </a:rPr>
              <a:t>坐标系统</a:t>
            </a:r>
            <a:r>
              <a:rPr lang="zh-CN" altLang="en-US" sz="1300" dirty="0">
                <a:solidFill>
                  <a:srgbClr val="A0A0A0"/>
                </a:solidFill>
                <a:latin typeface="Microsoft YaHei UI"/>
                <a:ea typeface="Microsoft YaHei UI"/>
              </a:rPr>
              <a:t>  J2000 黄道坐标系统一，赤道坐标经黄赤交角旋转转入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5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500" b="1" dirty="0">
                <a:solidFill>
                  <a:srgbClr val="E5E5E5"/>
                </a:solidFill>
                <a:latin typeface="Microsoft YaHei UI"/>
                <a:ea typeface="Microsoft YaHei UI"/>
              </a:rPr>
              <a:t>精度分级</a:t>
            </a:r>
            <a:r>
              <a:rPr lang="zh-CN" altLang="en-US" sz="1300" dirty="0">
                <a:solidFill>
                  <a:srgbClr val="A0A0A0"/>
                </a:solidFill>
                <a:latin typeface="Microsoft YaHei UI"/>
                <a:ea typeface="Microsoft YaHei UI"/>
              </a:rPr>
              <a:t>  A（JPL 权威）/ B（有倾角测定）/ C（缺倾角或相位），覆盖全部天体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5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500" b="1" dirty="0">
                <a:solidFill>
                  <a:srgbClr val="E5E5E5"/>
                </a:solidFill>
                <a:latin typeface="Microsoft YaHei UI"/>
                <a:ea typeface="Microsoft YaHei UI"/>
              </a:rPr>
              <a:t>数值验证</a:t>
            </a:r>
            <a:r>
              <a:rPr lang="zh-CN" altLang="en-US" sz="1300" dirty="0">
                <a:solidFill>
                  <a:srgbClr val="A0A0A0"/>
                </a:solidFill>
                <a:latin typeface="Microsoft YaHei UI"/>
                <a:ea typeface="Microsoft YaHei UI"/>
              </a:rPr>
              <a:t>  地火会合周期 780 天（真实 779.9）；火星冲日 2025-01-16（差 0.11 天）；上海夏至昼长 14.1 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bottomline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25" name="pagenum"/>
          <p:cNvSpPr txBox="1"/>
          <p:nvPr/>
        </p:nvSpPr>
        <p:spPr>
          <a:xfrm>
            <a:off x="11192000" y="6298000"/>
            <a:ext cx="700000" cy="3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30000"/>
              </a:lnSpc>
              <a:buNone/>
            </a:pPr>
            <a:r>
              <a:rPr lang="zh-CN" altLang="en-US" sz="1000" dirty="0">
                <a:solidFill>
                  <a:srgbClr val="A0A0A0"/>
                </a:solidFill>
                <a:latin typeface="Microsoft YaHei UI"/>
                <a:ea typeface="Microsoft YaHei UI"/>
              </a:rPr>
              <a:t>14 / 19</a:t>
            </a:r>
          </a:p>
        </p:txBody>
      </p:sp>
      <p:sp>
        <p:nvSpPr>
          <p:cNvPr id="326" name="tag"/>
          <p:cNvSpPr txBox="1"/>
          <p:nvPr/>
        </p:nvSpPr>
        <p:spPr>
          <a:xfrm>
            <a:off x="700000" y="380000"/>
            <a:ext cx="8000000" cy="28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100" b="1" spc="300" dirty="0">
                <a:solidFill>
                  <a:srgbClr val="A0A0A0"/>
                </a:solidFill>
                <a:latin typeface="Microsoft YaHei UI"/>
                <a:ea typeface="Microsoft YaHei UI"/>
              </a:rPr>
              <a:t>13  COMPARISON</a:t>
            </a:r>
          </a:p>
        </p:txBody>
      </p:sp>
      <p:sp>
        <p:nvSpPr>
          <p:cNvPr id="327" name="titlebar"/>
          <p:cNvSpPr/>
          <p:nvPr/>
        </p:nvSpPr>
        <p:spPr>
          <a:xfrm>
            <a:off x="700000" y="820000"/>
            <a:ext cx="80000" cy="64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28" name="title"/>
          <p:cNvSpPr txBox="1"/>
          <p:nvPr/>
        </p:nvSpPr>
        <p:spPr>
          <a:xfrm>
            <a:off x="900000" y="760000"/>
            <a:ext cx="105000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3200" b="1" dirty="0">
                <a:solidFill>
                  <a:srgbClr val="E5E5E5"/>
                </a:solidFill>
                <a:latin typeface="Microsoft YaHei UI"/>
                <a:ea typeface="Microsoft YaHei UI"/>
              </a:rPr>
              <a:t>与现有工具对比</a:t>
            </a:r>
          </a:p>
        </p:txBody>
      </p:sp>
      <p:graphicFrame>
        <p:nvGraphicFramePr>
          <p:cNvPr id="322" name="Table"/>
          <p:cNvGraphicFramePr>
            <a:graphicFrameLocks noGrp="1"/>
          </p:cNvGraphicFramePr>
          <p:nvPr/>
        </p:nvGraphicFramePr>
        <p:xfrm>
          <a:off x="700000" y="2000000"/>
          <a:ext cx="10790000" cy="2150000"/>
        </p:xfrm>
        <a:graphic>
          <a:graphicData uri="http://schemas.openxmlformats.org/drawingml/2006/table">
            <a:tbl>
              <a:tblPr firstRow="1" bandRow="1"/>
              <a:gridCol w="2190862"/>
              <a:gridCol w="1095431"/>
              <a:gridCol w="1314517"/>
              <a:gridCol w="1478832"/>
              <a:gridCol w="1259746"/>
              <a:gridCol w="1259746"/>
              <a:gridCol w="1095431"/>
              <a:gridCol w="1095431"/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</a:rPr>
                        <a:t>特性</a:t>
                      </a:r>
                    </a:p>
                  </a:txBody>
                  <a:tcPr marL="80000" marR="80000" marT="30000" marB="30000" anchor="ctr">
                    <a:solidFill>
                      <a:srgbClr val="E87D0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</a:rPr>
                        <a:t>桌面离线</a:t>
                      </a:r>
                    </a:p>
                  </a:txBody>
                  <a:tcPr marL="80000" marR="80000" marT="30000" marB="30000" anchor="ctr">
                    <a:solidFill>
                      <a:srgbClr val="E87D0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</a:rPr>
                        <a:t>Blender视角</a:t>
                      </a:r>
                    </a:p>
                  </a:txBody>
                  <a:tcPr marL="80000" marR="80000" marT="30000" marB="30000" anchor="ctr">
                    <a:solidFill>
                      <a:srgbClr val="E87D0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</a:rPr>
                        <a:t>相对运动分析</a:t>
                      </a:r>
                    </a:p>
                  </a:txBody>
                  <a:tcPr marL="80000" marR="80000" marT="30000" marB="30000" anchor="ctr">
                    <a:solidFill>
                      <a:srgbClr val="E87D0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</a:rPr>
                        <a:t>天象推演</a:t>
                      </a:r>
                    </a:p>
                  </a:txBody>
                  <a:tcPr marL="80000" marR="80000" marT="30000" marB="30000" anchor="ctr">
                    <a:solidFill>
                      <a:srgbClr val="E87D0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</a:rPr>
                        <a:t>系外行星</a:t>
                      </a:r>
                    </a:p>
                  </a:txBody>
                  <a:tcPr marL="80000" marR="80000" marT="30000" marB="30000" anchor="ctr">
                    <a:solidFill>
                      <a:srgbClr val="E87D0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</a:rPr>
                        <a:t>教学场景</a:t>
                      </a:r>
                    </a:p>
                  </a:txBody>
                  <a:tcPr marL="80000" marR="80000" marT="30000" marB="30000" anchor="ctr">
                    <a:solidFill>
                      <a:srgbClr val="E87D0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</a:rPr>
                        <a:t>精度分级</a:t>
                      </a:r>
                    </a:p>
                  </a:txBody>
                  <a:tcPr marL="80000" marR="80000" marT="30000" marB="30000" anchor="ctr">
                    <a:solidFill>
                      <a:srgbClr val="E87D0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1" dirty="0">
                          <a:solidFill>
                            <a:srgbClr val="E87D0D"/>
                          </a:solidFill>
                          <a:latin typeface="Microsoft YaHei UI"/>
                          <a:ea typeface="Microsoft YaHei UI"/>
                        </a:rPr>
                        <a:t>本软件</a:t>
                      </a:r>
                    </a:p>
                  </a:txBody>
                  <a:tcPr marL="80000" marR="80000" marT="30000" marB="30000" anchor="ctr">
                    <a:solidFill>
                      <a:srgbClr val="333333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E87D0D"/>
                          </a:solidFill>
                          <a:latin typeface="Microsoft YaHei UI"/>
                          <a:ea typeface="Microsoft YaHei UI"/>
                        </a:rPr>
                        <a:t>✓</a:t>
                      </a:r>
                    </a:p>
                  </a:txBody>
                  <a:tcPr marL="80000" marR="80000" marT="30000" marB="30000" anchor="ctr">
                    <a:solidFill>
                      <a:srgbClr val="333333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E87D0D"/>
                          </a:solidFill>
                          <a:latin typeface="Microsoft YaHei UI"/>
                          <a:ea typeface="Microsoft YaHei UI"/>
                        </a:rPr>
                        <a:t>✓</a:t>
                      </a:r>
                    </a:p>
                  </a:txBody>
                  <a:tcPr marL="80000" marR="80000" marT="30000" marB="30000" anchor="ctr">
                    <a:solidFill>
                      <a:srgbClr val="333333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E87D0D"/>
                          </a:solidFill>
                          <a:latin typeface="Microsoft YaHei UI"/>
                          <a:ea typeface="Microsoft YaHei UI"/>
                        </a:rPr>
                        <a:t>✓ 4参考系</a:t>
                      </a:r>
                    </a:p>
                  </a:txBody>
                  <a:tcPr marL="80000" marR="80000" marT="30000" marB="30000" anchor="ctr">
                    <a:solidFill>
                      <a:srgbClr val="333333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E87D0D"/>
                          </a:solidFill>
                          <a:latin typeface="Microsoft YaHei UI"/>
                          <a:ea typeface="Microsoft YaHei UI"/>
                        </a:rPr>
                        <a:t>✓ 六类事件</a:t>
                      </a:r>
                    </a:p>
                  </a:txBody>
                  <a:tcPr marL="80000" marR="80000" marT="30000" marB="30000" anchor="ctr">
                    <a:solidFill>
                      <a:srgbClr val="333333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E87D0D"/>
                          </a:solidFill>
                          <a:latin typeface="Microsoft YaHei UI"/>
                          <a:ea typeface="Microsoft YaHei UI"/>
                        </a:rPr>
                        <a:t>✓ 6375+</a:t>
                      </a:r>
                    </a:p>
                  </a:txBody>
                  <a:tcPr marL="80000" marR="80000" marT="30000" marB="30000" anchor="ctr">
                    <a:solidFill>
                      <a:srgbClr val="333333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E87D0D"/>
                          </a:solidFill>
                          <a:latin typeface="Microsoft YaHei UI"/>
                          <a:ea typeface="Microsoft YaHei UI"/>
                        </a:rPr>
                        <a:t>✓ 6预设</a:t>
                      </a:r>
                    </a:p>
                  </a:txBody>
                  <a:tcPr marL="80000" marR="80000" marT="30000" marB="30000" anchor="ctr">
                    <a:solidFill>
                      <a:srgbClr val="333333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E87D0D"/>
                          </a:solidFill>
                          <a:latin typeface="Microsoft YaHei UI"/>
                          <a:ea typeface="Microsoft YaHei UI"/>
                        </a:rPr>
                        <a:t>✓ A/B/C</a:t>
                      </a:r>
                    </a:p>
                  </a:txBody>
                  <a:tcPr marL="80000" marR="80000" marT="30000" marB="30000" anchor="ctr">
                    <a:solidFill>
                      <a:srgbClr val="333333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1" dirty="0">
                          <a:solidFill>
                            <a:srgbClr val="E5E5E5"/>
                          </a:solidFill>
                          <a:latin typeface="Microsoft YaHei UI"/>
                          <a:ea typeface="Microsoft YaHei UI"/>
                        </a:rPr>
                        <a:t>Celestia</a:t>
                      </a:r>
                    </a:p>
                  </a:txBody>
                  <a:tcPr marL="80000" marR="80000" marT="30000" marB="30000" anchor="ctr">
                    <a:solidFill>
                      <a:srgbClr val="3D3D3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E87D0D"/>
                          </a:solidFill>
                          <a:latin typeface="Microsoft YaHei UI"/>
                          <a:ea typeface="Microsoft YaHei UI"/>
                        </a:rPr>
                        <a:t>✓</a:t>
                      </a:r>
                    </a:p>
                  </a:txBody>
                  <a:tcPr marL="80000" marR="80000" marT="30000" marB="30000" anchor="ctr">
                    <a:solidFill>
                      <a:srgbClr val="3D3D3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A0A0A0"/>
                          </a:solidFill>
                          <a:latin typeface="Microsoft YaHei UI"/>
                          <a:ea typeface="Microsoft YaHei UI"/>
                        </a:rPr>
                        <a:t>✗</a:t>
                      </a:r>
                    </a:p>
                  </a:txBody>
                  <a:tcPr marL="80000" marR="80000" marT="30000" marB="30000" anchor="ctr">
                    <a:solidFill>
                      <a:srgbClr val="3D3D3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A0A0A0"/>
                          </a:solidFill>
                          <a:latin typeface="Microsoft YaHei UI"/>
                          <a:ea typeface="Microsoft YaHei UI"/>
                        </a:rPr>
                        <a:t>✓ 需插件</a:t>
                      </a:r>
                    </a:p>
                  </a:txBody>
                  <a:tcPr marL="80000" marR="80000" marT="30000" marB="30000" anchor="ctr">
                    <a:solidFill>
                      <a:srgbClr val="3D3D3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A0A0A0"/>
                          </a:solidFill>
                          <a:latin typeface="Microsoft YaHei UI"/>
                          <a:ea typeface="Microsoft YaHei UI"/>
                        </a:rPr>
                        <a:t>✗</a:t>
                      </a:r>
                    </a:p>
                  </a:txBody>
                  <a:tcPr marL="80000" marR="80000" marT="30000" marB="30000" anchor="ctr">
                    <a:solidFill>
                      <a:srgbClr val="3D3D3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A0A0A0"/>
                          </a:solidFill>
                          <a:latin typeface="Microsoft YaHei UI"/>
                          <a:ea typeface="Microsoft YaHei UI"/>
                        </a:rPr>
                        <a:t>✗</a:t>
                      </a:r>
                    </a:p>
                  </a:txBody>
                  <a:tcPr marL="80000" marR="80000" marT="30000" marB="30000" anchor="ctr">
                    <a:solidFill>
                      <a:srgbClr val="3D3D3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A0A0A0"/>
                          </a:solidFill>
                          <a:latin typeface="Microsoft YaHei UI"/>
                          <a:ea typeface="Microsoft YaHei UI"/>
                        </a:rPr>
                        <a:t>✗</a:t>
                      </a:r>
                    </a:p>
                  </a:txBody>
                  <a:tcPr marL="80000" marR="80000" marT="30000" marB="30000" anchor="ctr">
                    <a:solidFill>
                      <a:srgbClr val="3D3D3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A0A0A0"/>
                          </a:solidFill>
                          <a:latin typeface="Microsoft YaHei UI"/>
                          <a:ea typeface="Microsoft YaHei UI"/>
                        </a:rPr>
                        <a:t>✗</a:t>
                      </a:r>
                    </a:p>
                  </a:txBody>
                  <a:tcPr marL="80000" marR="80000" marT="30000" marB="30000" anchor="ctr">
                    <a:solidFill>
                      <a:srgbClr val="3D3D3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1" dirty="0">
                          <a:solidFill>
                            <a:srgbClr val="E5E5E5"/>
                          </a:solidFill>
                          <a:latin typeface="Microsoft YaHei UI"/>
                          <a:ea typeface="Microsoft YaHei UI"/>
                        </a:rPr>
                        <a:t>NASA Eyes</a:t>
                      </a:r>
                    </a:p>
                  </a:txBody>
                  <a:tcPr marL="80000" marR="80000" marT="30000" marB="30000" anchor="ctr">
                    <a:solidFill>
                      <a:srgbClr val="333333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A0A0A0"/>
                          </a:solidFill>
                          <a:latin typeface="Microsoft YaHei UI"/>
                          <a:ea typeface="Microsoft YaHei UI"/>
                        </a:rPr>
                        <a:t>✗ 网页</a:t>
                      </a:r>
                    </a:p>
                  </a:txBody>
                  <a:tcPr marL="80000" marR="80000" marT="30000" marB="30000" anchor="ctr">
                    <a:solidFill>
                      <a:srgbClr val="333333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A0A0A0"/>
                          </a:solidFill>
                          <a:latin typeface="Microsoft YaHei UI"/>
                          <a:ea typeface="Microsoft YaHei UI"/>
                        </a:rPr>
                        <a:t>✗</a:t>
                      </a:r>
                    </a:p>
                  </a:txBody>
                  <a:tcPr marL="80000" marR="80000" marT="30000" marB="30000" anchor="ctr">
                    <a:solidFill>
                      <a:srgbClr val="333333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E87D0D"/>
                          </a:solidFill>
                          <a:latin typeface="Microsoft YaHei UI"/>
                          <a:ea typeface="Microsoft YaHei UI"/>
                        </a:rPr>
                        <a:t>✓</a:t>
                      </a:r>
                    </a:p>
                  </a:txBody>
                  <a:tcPr marL="80000" marR="80000" marT="30000" marB="30000" anchor="ctr">
                    <a:solidFill>
                      <a:srgbClr val="333333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A0A0A0"/>
                          </a:solidFill>
                          <a:latin typeface="Microsoft YaHei UI"/>
                          <a:ea typeface="Microsoft YaHei UI"/>
                        </a:rPr>
                        <a:t>✗</a:t>
                      </a:r>
                    </a:p>
                  </a:txBody>
                  <a:tcPr marL="80000" marR="80000" marT="30000" marB="30000" anchor="ctr">
                    <a:solidFill>
                      <a:srgbClr val="333333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A0A0A0"/>
                          </a:solidFill>
                          <a:latin typeface="Microsoft YaHei UI"/>
                          <a:ea typeface="Microsoft YaHei UI"/>
                        </a:rPr>
                        <a:t>✗</a:t>
                      </a:r>
                    </a:p>
                  </a:txBody>
                  <a:tcPr marL="80000" marR="80000" marT="30000" marB="30000" anchor="ctr">
                    <a:solidFill>
                      <a:srgbClr val="333333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A0A0A0"/>
                          </a:solidFill>
                          <a:latin typeface="Microsoft YaHei UI"/>
                          <a:ea typeface="Microsoft YaHei UI"/>
                        </a:rPr>
                        <a:t>✗</a:t>
                      </a:r>
                    </a:p>
                  </a:txBody>
                  <a:tcPr marL="80000" marR="80000" marT="30000" marB="30000" anchor="ctr">
                    <a:solidFill>
                      <a:srgbClr val="333333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A0A0A0"/>
                          </a:solidFill>
                          <a:latin typeface="Microsoft YaHei UI"/>
                          <a:ea typeface="Microsoft YaHei UI"/>
                        </a:rPr>
                        <a:t>✗</a:t>
                      </a:r>
                    </a:p>
                  </a:txBody>
                  <a:tcPr marL="80000" marR="80000" marT="30000" marB="30000" anchor="ctr">
                    <a:solidFill>
                      <a:srgbClr val="333333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1" dirty="0">
                          <a:solidFill>
                            <a:srgbClr val="E5E5E5"/>
                          </a:solidFill>
                          <a:latin typeface="Microsoft YaHei UI"/>
                          <a:ea typeface="Microsoft YaHei UI"/>
                        </a:rPr>
                        <a:t>Stellarium</a:t>
                      </a:r>
                    </a:p>
                  </a:txBody>
                  <a:tcPr marL="80000" marR="80000" marT="30000" marB="30000" anchor="ctr">
                    <a:solidFill>
                      <a:srgbClr val="3D3D3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E87D0D"/>
                          </a:solidFill>
                          <a:latin typeface="Microsoft YaHei UI"/>
                          <a:ea typeface="Microsoft YaHei UI"/>
                        </a:rPr>
                        <a:t>✓</a:t>
                      </a:r>
                    </a:p>
                  </a:txBody>
                  <a:tcPr marL="80000" marR="80000" marT="30000" marB="30000" anchor="ctr">
                    <a:solidFill>
                      <a:srgbClr val="3D3D3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A0A0A0"/>
                          </a:solidFill>
                          <a:latin typeface="Microsoft YaHei UI"/>
                          <a:ea typeface="Microsoft YaHei UI"/>
                        </a:rPr>
                        <a:t>✗</a:t>
                      </a:r>
                    </a:p>
                  </a:txBody>
                  <a:tcPr marL="80000" marR="80000" marT="30000" marB="30000" anchor="ctr">
                    <a:solidFill>
                      <a:srgbClr val="3D3D3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A0A0A0"/>
                          </a:solidFill>
                          <a:latin typeface="Microsoft YaHei UI"/>
                          <a:ea typeface="Microsoft YaHei UI"/>
                        </a:rPr>
                        <a:t>✗</a:t>
                      </a:r>
                    </a:p>
                  </a:txBody>
                  <a:tcPr marL="80000" marR="80000" marT="30000" marB="30000" anchor="ctr">
                    <a:solidFill>
                      <a:srgbClr val="3D3D3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A0A0A0"/>
                          </a:solidFill>
                          <a:latin typeface="Microsoft YaHei UI"/>
                          <a:ea typeface="Microsoft YaHei UI"/>
                        </a:rPr>
                        <a:t>✗</a:t>
                      </a:r>
                    </a:p>
                  </a:txBody>
                  <a:tcPr marL="80000" marR="80000" marT="30000" marB="30000" anchor="ctr">
                    <a:solidFill>
                      <a:srgbClr val="3D3D3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A0A0A0"/>
                          </a:solidFill>
                          <a:latin typeface="Microsoft YaHei UI"/>
                          <a:ea typeface="Microsoft YaHei UI"/>
                        </a:rPr>
                        <a:t>✗</a:t>
                      </a:r>
                    </a:p>
                  </a:txBody>
                  <a:tcPr marL="80000" marR="80000" marT="30000" marB="30000" anchor="ctr">
                    <a:solidFill>
                      <a:srgbClr val="3D3D3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A0A0A0"/>
                          </a:solidFill>
                          <a:latin typeface="Microsoft YaHei UI"/>
                          <a:ea typeface="Microsoft YaHei UI"/>
                        </a:rPr>
                        <a:t>✗</a:t>
                      </a:r>
                    </a:p>
                  </a:txBody>
                  <a:tcPr marL="80000" marR="80000" marT="30000" marB="30000" anchor="ctr">
                    <a:solidFill>
                      <a:srgbClr val="3D3D3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E87D0D"/>
                          </a:solidFill>
                          <a:latin typeface="Microsoft YaHei UI"/>
                          <a:ea typeface="Microsoft YaHei UI"/>
                        </a:rPr>
                        <a:t>✓</a:t>
                      </a:r>
                    </a:p>
                  </a:txBody>
                  <a:tcPr marL="80000" marR="80000" marT="30000" marB="30000" anchor="ctr">
                    <a:solidFill>
                      <a:srgbClr val="3D3D3D"/>
                    </a:solidFill>
                    <a:lnL w="6350">
                      <a:solidFill>
                        <a:srgbClr val="252525"/>
                      </a:solidFill>
                    </a:lnL>
                    <a:lnR w="6350">
                      <a:solidFill>
                        <a:srgbClr val="252525"/>
                      </a:solidFill>
                    </a:lnR>
                    <a:lnT w="6350">
                      <a:solidFill>
                        <a:srgbClr val="252525"/>
                      </a:solidFill>
                    </a:lnT>
                    <a:lnB w="6350">
                      <a:solidFill>
                        <a:srgbClr val="25252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23" name="note"/>
          <p:cNvSpPr txBox="1"/>
          <p:nvPr/>
        </p:nvSpPr>
        <p:spPr>
          <a:xfrm>
            <a:off x="700000" y="4800000"/>
            <a:ext cx="10790000" cy="6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300" i="1" dirty="0">
                <a:solidFill>
                  <a:srgbClr val="A0A0A0"/>
                </a:solidFill>
                <a:latin typeface="Microsoft YaHei UI"/>
                <a:ea typeface="Microsoft YaHei UI"/>
              </a:rPr>
              <a:t>差异化定位：本软件是唯一同时提供“Blender 式交互 + 相对运动分析 + 天象推演 + 精度分级”的桌面工具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bottomline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42" name="pagenum"/>
          <p:cNvSpPr txBox="1"/>
          <p:nvPr/>
        </p:nvSpPr>
        <p:spPr>
          <a:xfrm>
            <a:off x="11192000" y="6298000"/>
            <a:ext cx="700000" cy="3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30000"/>
              </a:lnSpc>
              <a:buNone/>
            </a:pPr>
            <a:r>
              <a:rPr lang="zh-CN" altLang="en-US" sz="1000" dirty="0">
                <a:solidFill>
                  <a:srgbClr val="A0A0A0"/>
                </a:solidFill>
                <a:latin typeface="Microsoft YaHei UI"/>
                <a:ea typeface="Microsoft YaHei UI"/>
              </a:rPr>
              <a:t>15 / 19</a:t>
            </a:r>
          </a:p>
        </p:txBody>
      </p:sp>
      <p:sp>
        <p:nvSpPr>
          <p:cNvPr id="343" name="tag"/>
          <p:cNvSpPr txBox="1"/>
          <p:nvPr/>
        </p:nvSpPr>
        <p:spPr>
          <a:xfrm>
            <a:off x="700000" y="380000"/>
            <a:ext cx="8000000" cy="28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100" b="1" spc="300" dirty="0">
                <a:solidFill>
                  <a:srgbClr val="A0A0A0"/>
                </a:solidFill>
                <a:latin typeface="Microsoft YaHei UI"/>
                <a:ea typeface="Microsoft YaHei UI"/>
              </a:rPr>
              <a:t>14  SHOWCASE</a:t>
            </a:r>
          </a:p>
        </p:txBody>
      </p:sp>
      <p:sp>
        <p:nvSpPr>
          <p:cNvPr id="344" name="titlebar"/>
          <p:cNvSpPr/>
          <p:nvPr/>
        </p:nvSpPr>
        <p:spPr>
          <a:xfrm>
            <a:off x="700000" y="820000"/>
            <a:ext cx="80000" cy="64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45" name="title"/>
          <p:cNvSpPr txBox="1"/>
          <p:nvPr/>
        </p:nvSpPr>
        <p:spPr>
          <a:xfrm>
            <a:off x="900000" y="760000"/>
            <a:ext cx="105000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3200" b="1" dirty="0">
                <a:solidFill>
                  <a:srgbClr val="E5E5E5"/>
                </a:solidFill>
                <a:latin typeface="Microsoft YaHei UI"/>
                <a:ea typeface="Microsoft YaHei UI"/>
              </a:rPr>
              <a:t>软件运行效果</a:t>
            </a:r>
          </a:p>
        </p:txBody>
      </p:sp>
      <p:sp>
        <p:nvSpPr>
          <p:cNvPr id="329" name="card0"/>
          <p:cNvSpPr/>
          <p:nvPr/>
        </p:nvSpPr>
        <p:spPr>
          <a:xfrm>
            <a:off x="700000" y="1950000"/>
            <a:ext cx="10790000" cy="1066666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0" name="cardbar0"/>
          <p:cNvSpPr/>
          <p:nvPr/>
        </p:nvSpPr>
        <p:spPr>
          <a:xfrm>
            <a:off x="700000" y="221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1" name="cardt0"/>
          <p:cNvSpPr txBox="1"/>
          <p:nvPr/>
        </p:nvSpPr>
        <p:spPr>
          <a:xfrm>
            <a:off x="920000" y="2190000"/>
            <a:ext cx="10370000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截图 1：3D 太阳系全景</a:t>
            </a:r>
          </a:p>
        </p:txBody>
      </p:sp>
      <p:sp>
        <p:nvSpPr>
          <p:cNvPr id="332" name="cardd0"/>
          <p:cNvSpPr txBox="1"/>
          <p:nvPr/>
        </p:nvSpPr>
        <p:spPr>
          <a:xfrm>
            <a:off x="920000" y="2610000"/>
            <a:ext cx="10370000" cy="266666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八大行星真实轨道 + 主带小行星带点云 + 程序化星云背景 + 黄道网格（此处插入运行截图）</a:t>
            </a:r>
          </a:p>
        </p:txBody>
      </p:sp>
      <p:sp>
        <p:nvSpPr>
          <p:cNvPr id="333" name="card1"/>
          <p:cNvSpPr/>
          <p:nvPr/>
        </p:nvSpPr>
        <p:spPr>
          <a:xfrm>
            <a:off x="700000" y="3216666"/>
            <a:ext cx="10790000" cy="1066666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4" name="cardbar1"/>
          <p:cNvSpPr/>
          <p:nvPr/>
        </p:nvSpPr>
        <p:spPr>
          <a:xfrm>
            <a:off x="700000" y="3476666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5" name="cardt1"/>
          <p:cNvSpPr txBox="1"/>
          <p:nvPr/>
        </p:nvSpPr>
        <p:spPr>
          <a:xfrm>
            <a:off x="920000" y="3456666"/>
            <a:ext cx="10370000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截图 2：相对运动分析</a:t>
            </a:r>
          </a:p>
        </p:txBody>
      </p:sp>
      <p:sp>
        <p:nvSpPr>
          <p:cNvPr id="336" name="cardd1"/>
          <p:cNvSpPr txBox="1"/>
          <p:nvPr/>
        </p:nvSpPr>
        <p:spPr>
          <a:xfrm>
            <a:off x="920000" y="3876666"/>
            <a:ext cx="10370000" cy="266666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地火对比面板：3D 相对轨迹 + 距离/速度曲线 + 会合周期 780 天（此处插入截图）</a:t>
            </a:r>
          </a:p>
        </p:txBody>
      </p:sp>
      <p:sp>
        <p:nvSpPr>
          <p:cNvPr id="337" name="card2"/>
          <p:cNvSpPr/>
          <p:nvPr/>
        </p:nvSpPr>
        <p:spPr>
          <a:xfrm>
            <a:off x="700000" y="4483332"/>
            <a:ext cx="10790000" cy="1066666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8" name="cardbar2"/>
          <p:cNvSpPr/>
          <p:nvPr/>
        </p:nvSpPr>
        <p:spPr>
          <a:xfrm>
            <a:off x="700000" y="4743332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9" name="cardt2"/>
          <p:cNvSpPr txBox="1"/>
          <p:nvPr/>
        </p:nvSpPr>
        <p:spPr>
          <a:xfrm>
            <a:off x="920000" y="4723332"/>
            <a:ext cx="10370000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截图 3：地表视角 / 天象推演</a:t>
            </a:r>
          </a:p>
        </p:txBody>
      </p:sp>
      <p:sp>
        <p:nvSpPr>
          <p:cNvPr id="340" name="cardd2"/>
          <p:cNvSpPr txBox="1"/>
          <p:nvPr/>
        </p:nvSpPr>
        <p:spPr>
          <a:xfrm>
            <a:off x="920000" y="5143332"/>
            <a:ext cx="10370000" cy="266666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从火星表面仰望太阳，或天象推演表列出 2025 火星冲日（此处插入截图）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bottomline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71" name="pagenum"/>
          <p:cNvSpPr txBox="1"/>
          <p:nvPr/>
        </p:nvSpPr>
        <p:spPr>
          <a:xfrm>
            <a:off x="11192000" y="6298000"/>
            <a:ext cx="700000" cy="3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30000"/>
              </a:lnSpc>
              <a:buNone/>
            </a:pPr>
            <a:r>
              <a:rPr lang="zh-CN" altLang="en-US" sz="1000" dirty="0">
                <a:solidFill>
                  <a:srgbClr val="A0A0A0"/>
                </a:solidFill>
                <a:latin typeface="Microsoft YaHei UI"/>
                <a:ea typeface="Microsoft YaHei UI"/>
              </a:rPr>
              <a:t>16 / 19</a:t>
            </a:r>
          </a:p>
        </p:txBody>
      </p:sp>
      <p:sp>
        <p:nvSpPr>
          <p:cNvPr id="372" name="tag"/>
          <p:cNvSpPr txBox="1"/>
          <p:nvPr/>
        </p:nvSpPr>
        <p:spPr>
          <a:xfrm>
            <a:off x="700000" y="380000"/>
            <a:ext cx="8000000" cy="28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100" b="1" spc="300" dirty="0">
                <a:solidFill>
                  <a:srgbClr val="A0A0A0"/>
                </a:solidFill>
                <a:latin typeface="Microsoft YaHei UI"/>
                <a:ea typeface="Microsoft YaHei UI"/>
              </a:rPr>
              <a:t>15  DEMO SCRIPT</a:t>
            </a:r>
          </a:p>
        </p:txBody>
      </p:sp>
      <p:sp>
        <p:nvSpPr>
          <p:cNvPr id="373" name="titlebar"/>
          <p:cNvSpPr/>
          <p:nvPr/>
        </p:nvSpPr>
        <p:spPr>
          <a:xfrm>
            <a:off x="700000" y="820000"/>
            <a:ext cx="80000" cy="64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74" name="title"/>
          <p:cNvSpPr txBox="1"/>
          <p:nvPr/>
        </p:nvSpPr>
        <p:spPr>
          <a:xfrm>
            <a:off x="900000" y="760000"/>
            <a:ext cx="105000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3200" b="1" dirty="0">
                <a:solidFill>
                  <a:srgbClr val="E5E5E5"/>
                </a:solidFill>
                <a:latin typeface="Microsoft YaHei UI"/>
                <a:ea typeface="Microsoft YaHei UI"/>
              </a:rPr>
              <a:t>现场操作演示（60 秒）</a:t>
            </a:r>
          </a:p>
        </p:txBody>
      </p:sp>
      <p:sp>
        <p:nvSpPr>
          <p:cNvPr id="346" name="card0"/>
          <p:cNvSpPr/>
          <p:nvPr/>
        </p:nvSpPr>
        <p:spPr>
          <a:xfrm>
            <a:off x="700000" y="1950000"/>
            <a:ext cx="3463333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47" name="cardbar0"/>
          <p:cNvSpPr/>
          <p:nvPr/>
        </p:nvSpPr>
        <p:spPr>
          <a:xfrm>
            <a:off x="700000" y="221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48" name="cardt0"/>
          <p:cNvSpPr txBox="1"/>
          <p:nvPr/>
        </p:nvSpPr>
        <p:spPr>
          <a:xfrm>
            <a:off x="920000" y="2190000"/>
            <a:ext cx="3043333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1 启动</a:t>
            </a:r>
          </a:p>
        </p:txBody>
      </p:sp>
      <p:sp>
        <p:nvSpPr>
          <p:cNvPr id="349" name="cardd0"/>
          <p:cNvSpPr txBox="1"/>
          <p:nvPr/>
        </p:nvSpPr>
        <p:spPr>
          <a:xfrm>
            <a:off x="920000" y="2610000"/>
            <a:ext cx="3043333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启动器选择 3D / 2D 视图（快捷键 3 / 2）</a:t>
            </a:r>
          </a:p>
        </p:txBody>
      </p:sp>
      <p:sp>
        <p:nvSpPr>
          <p:cNvPr id="350" name="card1"/>
          <p:cNvSpPr/>
          <p:nvPr/>
        </p:nvSpPr>
        <p:spPr>
          <a:xfrm>
            <a:off x="4363333" y="1950000"/>
            <a:ext cx="3463333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51" name="cardbar1"/>
          <p:cNvSpPr/>
          <p:nvPr/>
        </p:nvSpPr>
        <p:spPr>
          <a:xfrm>
            <a:off x="4363333" y="221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52" name="cardt1"/>
          <p:cNvSpPr txBox="1"/>
          <p:nvPr/>
        </p:nvSpPr>
        <p:spPr>
          <a:xfrm>
            <a:off x="4583333" y="2190000"/>
            <a:ext cx="3043333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2 漫游</a:t>
            </a:r>
          </a:p>
        </p:txBody>
      </p:sp>
      <p:sp>
        <p:nvSpPr>
          <p:cNvPr id="353" name="cardd1"/>
          <p:cNvSpPr txBox="1"/>
          <p:nvPr/>
        </p:nvSpPr>
        <p:spPr>
          <a:xfrm>
            <a:off x="4583333" y="2610000"/>
            <a:ext cx="3043333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中键旋转 → 滚轮缩放 → Numpad 7 俯视</a:t>
            </a:r>
          </a:p>
        </p:txBody>
      </p:sp>
      <p:sp>
        <p:nvSpPr>
          <p:cNvPr id="354" name="card2"/>
          <p:cNvSpPr/>
          <p:nvPr/>
        </p:nvSpPr>
        <p:spPr>
          <a:xfrm>
            <a:off x="8026666" y="1950000"/>
            <a:ext cx="3463333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55" name="cardbar2"/>
          <p:cNvSpPr/>
          <p:nvPr/>
        </p:nvSpPr>
        <p:spPr>
          <a:xfrm>
            <a:off x="8026666" y="221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56" name="cardt2"/>
          <p:cNvSpPr txBox="1"/>
          <p:nvPr/>
        </p:nvSpPr>
        <p:spPr>
          <a:xfrm>
            <a:off x="8246666" y="2190000"/>
            <a:ext cx="3043333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3 对比</a:t>
            </a:r>
          </a:p>
        </p:txBody>
      </p:sp>
      <p:sp>
        <p:nvSpPr>
          <p:cNvPr id="357" name="cardd2"/>
          <p:cNvSpPr txBox="1"/>
          <p:nvPr/>
        </p:nvSpPr>
        <p:spPr>
          <a:xfrm>
            <a:off x="8246666" y="2610000"/>
            <a:ext cx="3043333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右键地球/火星 → 加入对比 → 会合周期 780 天</a:t>
            </a:r>
          </a:p>
        </p:txBody>
      </p:sp>
      <p:sp>
        <p:nvSpPr>
          <p:cNvPr id="358" name="card3"/>
          <p:cNvSpPr/>
          <p:nvPr/>
        </p:nvSpPr>
        <p:spPr>
          <a:xfrm>
            <a:off x="700000" y="4100000"/>
            <a:ext cx="3463333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59" name="cardbar3"/>
          <p:cNvSpPr/>
          <p:nvPr/>
        </p:nvSpPr>
        <p:spPr>
          <a:xfrm>
            <a:off x="700000" y="436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60" name="cardt3"/>
          <p:cNvSpPr txBox="1"/>
          <p:nvPr/>
        </p:nvSpPr>
        <p:spPr>
          <a:xfrm>
            <a:off x="920000" y="4340000"/>
            <a:ext cx="3043333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4 天象</a:t>
            </a:r>
          </a:p>
        </p:txBody>
      </p:sp>
      <p:sp>
        <p:nvSpPr>
          <p:cNvPr id="361" name="cardd3"/>
          <p:cNvSpPr txBox="1"/>
          <p:nvPr/>
        </p:nvSpPr>
        <p:spPr>
          <a:xfrm>
            <a:off x="920000" y="4760000"/>
            <a:ext cx="3043333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天象推演 → 火星冲日 → 点击跳转时间轴</a:t>
            </a:r>
          </a:p>
        </p:txBody>
      </p:sp>
      <p:sp>
        <p:nvSpPr>
          <p:cNvPr id="362" name="card4"/>
          <p:cNvSpPr/>
          <p:nvPr/>
        </p:nvSpPr>
        <p:spPr>
          <a:xfrm>
            <a:off x="4363333" y="4100000"/>
            <a:ext cx="3463333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63" name="cardbar4"/>
          <p:cNvSpPr/>
          <p:nvPr/>
        </p:nvSpPr>
        <p:spPr>
          <a:xfrm>
            <a:off x="4363333" y="436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64" name="cardt4"/>
          <p:cNvSpPr txBox="1"/>
          <p:nvPr/>
        </p:nvSpPr>
        <p:spPr>
          <a:xfrm>
            <a:off x="4583333" y="4340000"/>
            <a:ext cx="3043333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5 地表</a:t>
            </a:r>
          </a:p>
        </p:txBody>
      </p:sp>
      <p:sp>
        <p:nvSpPr>
          <p:cNvPr id="365" name="cardd4"/>
          <p:cNvSpPr txBox="1"/>
          <p:nvPr/>
        </p:nvSpPr>
        <p:spPr>
          <a:xfrm>
            <a:off x="4583333" y="4760000"/>
            <a:ext cx="3043333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地表视角 → 站上火星表面仰望太阳</a:t>
            </a:r>
          </a:p>
        </p:txBody>
      </p:sp>
      <p:sp>
        <p:nvSpPr>
          <p:cNvPr id="366" name="card5"/>
          <p:cNvSpPr/>
          <p:nvPr/>
        </p:nvSpPr>
        <p:spPr>
          <a:xfrm>
            <a:off x="8026666" y="4100000"/>
            <a:ext cx="3463333" cy="195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67" name="cardbar5"/>
          <p:cNvSpPr/>
          <p:nvPr/>
        </p:nvSpPr>
        <p:spPr>
          <a:xfrm>
            <a:off x="8026666" y="436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68" name="cardt5"/>
          <p:cNvSpPr txBox="1"/>
          <p:nvPr/>
        </p:nvSpPr>
        <p:spPr>
          <a:xfrm>
            <a:off x="8246666" y="4340000"/>
            <a:ext cx="3043333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6 教学</a:t>
            </a:r>
          </a:p>
        </p:txBody>
      </p:sp>
      <p:sp>
        <p:nvSpPr>
          <p:cNvPr id="369" name="cardd5"/>
          <p:cNvSpPr txBox="1"/>
          <p:nvPr/>
        </p:nvSpPr>
        <p:spPr>
          <a:xfrm>
            <a:off x="8246666" y="4760000"/>
            <a:ext cx="3043333" cy="115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教学场景 → 开普勒第二定律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bottomline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78" name="pagenum"/>
          <p:cNvSpPr txBox="1"/>
          <p:nvPr/>
        </p:nvSpPr>
        <p:spPr>
          <a:xfrm>
            <a:off x="11192000" y="6298000"/>
            <a:ext cx="700000" cy="3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30000"/>
              </a:lnSpc>
              <a:buNone/>
            </a:pPr>
            <a:r>
              <a:rPr lang="zh-CN" altLang="en-US" sz="1000" dirty="0">
                <a:solidFill>
                  <a:srgbClr val="A0A0A0"/>
                </a:solidFill>
                <a:latin typeface="Microsoft YaHei UI"/>
                <a:ea typeface="Microsoft YaHei UI"/>
              </a:rPr>
              <a:t>17 / 19</a:t>
            </a:r>
          </a:p>
        </p:txBody>
      </p:sp>
      <p:sp>
        <p:nvSpPr>
          <p:cNvPr id="379" name="tag"/>
          <p:cNvSpPr txBox="1"/>
          <p:nvPr/>
        </p:nvSpPr>
        <p:spPr>
          <a:xfrm>
            <a:off x="700000" y="380000"/>
            <a:ext cx="8000000" cy="28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100" b="1" spc="300" dirty="0">
                <a:solidFill>
                  <a:srgbClr val="A0A0A0"/>
                </a:solidFill>
                <a:latin typeface="Microsoft YaHei UI"/>
                <a:ea typeface="Microsoft YaHei UI"/>
              </a:rPr>
              <a:t>16  HONESTY</a:t>
            </a:r>
          </a:p>
        </p:txBody>
      </p:sp>
      <p:sp>
        <p:nvSpPr>
          <p:cNvPr id="380" name="titlebar"/>
          <p:cNvSpPr/>
          <p:nvPr/>
        </p:nvSpPr>
        <p:spPr>
          <a:xfrm>
            <a:off x="700000" y="820000"/>
            <a:ext cx="80000" cy="64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81" name="title"/>
          <p:cNvSpPr txBox="1"/>
          <p:nvPr/>
        </p:nvSpPr>
        <p:spPr>
          <a:xfrm>
            <a:off x="900000" y="760000"/>
            <a:ext cx="105000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3200" b="1" dirty="0">
                <a:solidFill>
                  <a:srgbClr val="E5E5E5"/>
                </a:solidFill>
                <a:latin typeface="Microsoft YaHei UI"/>
                <a:ea typeface="Microsoft YaHei UI"/>
              </a:rPr>
              <a:t>局限性与科学诚实性</a:t>
            </a:r>
          </a:p>
        </p:txBody>
      </p:sp>
      <p:sp>
        <p:nvSpPr>
          <p:cNvPr id="375" name="bullets"/>
          <p:cNvSpPr txBox="1"/>
          <p:nvPr/>
        </p:nvSpPr>
        <p:spPr>
          <a:xfrm>
            <a:off x="700000" y="1950000"/>
            <a:ext cx="10790000" cy="4008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50000"/>
              </a:lnSpc>
              <a:buNone/>
            </a:pPr>
            <a:r>
              <a:rPr lang="zh-CN" altLang="en-US" sz="15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500" b="1" dirty="0">
                <a:solidFill>
                  <a:srgbClr val="E5E5E5"/>
                </a:solidFill>
                <a:latin typeface="Microsoft YaHei UI"/>
                <a:ea typeface="Microsoft YaHei UI"/>
              </a:rPr>
              <a:t>系外行星相位</a:t>
            </a:r>
            <a:r>
              <a:rPr lang="zh-CN" altLang="en-US" sz="1300" dirty="0">
                <a:solidFill>
                  <a:srgbClr val="A0A0A0"/>
                </a:solidFill>
                <a:latin typeface="Microsoft YaHei UI"/>
                <a:ea typeface="Microsoft YaHei UI"/>
              </a:rPr>
              <a:t>  平近点角未测定，取 M(J2000)=0 可复现假设值，仅影响瞬时位置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5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500" b="1" dirty="0">
                <a:solidFill>
                  <a:srgbClr val="E5E5E5"/>
                </a:solidFill>
                <a:latin typeface="Microsoft YaHei UI"/>
                <a:ea typeface="Microsoft YaHei UI"/>
              </a:rPr>
              <a:t>星历范围</a:t>
            </a:r>
            <a:r>
              <a:rPr lang="zh-CN" altLang="en-US" sz="1300" dirty="0">
                <a:solidFill>
                  <a:srgbClr val="A0A0A0"/>
                </a:solidFill>
                <a:latin typeface="Microsoft YaHei UI"/>
                <a:ea typeface="Microsoft YaHei UI"/>
              </a:rPr>
              <a:t>  JPL 近似根数适用 1800–2050 年，超出主动弹出精度警告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5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500" b="1" dirty="0">
                <a:solidFill>
                  <a:srgbClr val="E5E5E5"/>
                </a:solidFill>
                <a:latin typeface="Microsoft YaHei UI"/>
                <a:ea typeface="Microsoft YaHei UI"/>
              </a:rPr>
              <a:t>缺倾角</a:t>
            </a:r>
            <a:r>
              <a:rPr lang="zh-CN" altLang="en-US" sz="1300" dirty="0">
                <a:solidFill>
                  <a:srgbClr val="A0A0A0"/>
                </a:solidFill>
                <a:latin typeface="Microsoft YaHei UI"/>
                <a:ea typeface="Microsoft YaHei UI"/>
              </a:rPr>
              <a:t>  约 60% 系外行星无倾角测定，标注 C 级精度，轨道方向为假设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5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500" b="1" dirty="0">
                <a:solidFill>
                  <a:srgbClr val="E5E5E5"/>
                </a:solidFill>
                <a:latin typeface="Microsoft YaHei UI"/>
                <a:ea typeface="Microsoft YaHei UI"/>
              </a:rPr>
              <a:t>可视化比例</a:t>
            </a:r>
            <a:r>
              <a:rPr lang="zh-CN" altLang="en-US" sz="1300" dirty="0">
                <a:solidFill>
                  <a:srgbClr val="A0A0A0"/>
                </a:solidFill>
                <a:latin typeface="Microsoft YaHei UI"/>
                <a:ea typeface="Microsoft YaHei UI"/>
              </a:rPr>
              <a:t>  默认半径放大 1000 倍，HUD 明确标注“距离为真实值”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5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500" b="1" dirty="0">
                <a:solidFill>
                  <a:srgbClr val="E5E5E5"/>
                </a:solidFill>
                <a:latin typeface="Microsoft YaHei UI"/>
                <a:ea typeface="Microsoft YaHei UI"/>
              </a:rPr>
              <a:t>缺失数据</a:t>
            </a:r>
            <a:r>
              <a:rPr lang="zh-CN" altLang="en-US" sz="1300" dirty="0">
                <a:solidFill>
                  <a:srgbClr val="A0A0A0"/>
                </a:solidFill>
                <a:latin typeface="Microsoft YaHei UI"/>
                <a:ea typeface="Microsoft YaHei UI"/>
              </a:rPr>
              <a:t>  一律显示“未知”，不伪造、不插值、不猜测；非地球天体经度零点取 W(J2000)=0 可复现假设</a:t>
            </a:r>
          </a:p>
        </p:txBody>
      </p:sp>
      <p:sp>
        <p:nvSpPr>
          <p:cNvPr id="376" name="attitude"/>
          <p:cNvSpPr txBox="1"/>
          <p:nvPr/>
        </p:nvSpPr>
        <p:spPr>
          <a:xfrm>
            <a:off x="700000" y="5300000"/>
            <a:ext cx="10790000" cy="6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i="1" dirty="0">
                <a:solidFill>
                  <a:srgbClr val="E87D0D"/>
                </a:solidFill>
                <a:latin typeface="Microsoft YaHei UI"/>
                <a:ea typeface="Microsoft YaHei UI"/>
              </a:rPr>
              <a:t>态度：主动承认局限，比隐瞒更能获得评审认可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bottomline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93" name="pagenum"/>
          <p:cNvSpPr txBox="1"/>
          <p:nvPr/>
        </p:nvSpPr>
        <p:spPr>
          <a:xfrm>
            <a:off x="11192000" y="6298000"/>
            <a:ext cx="700000" cy="3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30000"/>
              </a:lnSpc>
              <a:buNone/>
            </a:pPr>
            <a:r>
              <a:rPr lang="zh-CN" altLang="en-US" sz="1000" dirty="0">
                <a:solidFill>
                  <a:srgbClr val="A0A0A0"/>
                </a:solidFill>
                <a:latin typeface="Microsoft YaHei UI"/>
                <a:ea typeface="Microsoft YaHei UI"/>
              </a:rPr>
              <a:t>18 / 19</a:t>
            </a:r>
          </a:p>
        </p:txBody>
      </p:sp>
      <p:sp>
        <p:nvSpPr>
          <p:cNvPr id="394" name="tag"/>
          <p:cNvSpPr txBox="1"/>
          <p:nvPr/>
        </p:nvSpPr>
        <p:spPr>
          <a:xfrm>
            <a:off x="700000" y="380000"/>
            <a:ext cx="8000000" cy="28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100" b="1" spc="300" dirty="0">
                <a:solidFill>
                  <a:srgbClr val="A0A0A0"/>
                </a:solidFill>
                <a:latin typeface="Microsoft YaHei UI"/>
                <a:ea typeface="Microsoft YaHei UI"/>
              </a:rPr>
              <a:t>17  SUMMARY</a:t>
            </a:r>
          </a:p>
        </p:txBody>
      </p:sp>
      <p:sp>
        <p:nvSpPr>
          <p:cNvPr id="395" name="titlebar"/>
          <p:cNvSpPr/>
          <p:nvPr/>
        </p:nvSpPr>
        <p:spPr>
          <a:xfrm>
            <a:off x="700000" y="820000"/>
            <a:ext cx="80000" cy="64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96" name="title"/>
          <p:cNvSpPr txBox="1"/>
          <p:nvPr/>
        </p:nvSpPr>
        <p:spPr>
          <a:xfrm>
            <a:off x="900000" y="760000"/>
            <a:ext cx="105000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3200" b="1" dirty="0">
                <a:solidFill>
                  <a:srgbClr val="E5E5E5"/>
                </a:solidFill>
                <a:latin typeface="Microsoft YaHei UI"/>
                <a:ea typeface="Microsoft YaHei UI"/>
              </a:rPr>
              <a:t>总结与展望</a:t>
            </a:r>
          </a:p>
        </p:txBody>
      </p:sp>
      <p:sp>
        <p:nvSpPr>
          <p:cNvPr id="382" name="card0"/>
          <p:cNvSpPr/>
          <p:nvPr/>
        </p:nvSpPr>
        <p:spPr>
          <a:xfrm>
            <a:off x="700000" y="1900000"/>
            <a:ext cx="5295000" cy="220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83" name="cardbar0"/>
          <p:cNvSpPr/>
          <p:nvPr/>
        </p:nvSpPr>
        <p:spPr>
          <a:xfrm>
            <a:off x="700000" y="216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84" name="cardt0"/>
          <p:cNvSpPr txBox="1"/>
          <p:nvPr/>
        </p:nvSpPr>
        <p:spPr>
          <a:xfrm>
            <a:off x="920000" y="2140000"/>
            <a:ext cx="4875000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作品价值</a:t>
            </a:r>
          </a:p>
        </p:txBody>
      </p:sp>
      <p:sp>
        <p:nvSpPr>
          <p:cNvPr id="385" name="cardd0"/>
          <p:cNvSpPr txBox="1"/>
          <p:nvPr/>
        </p:nvSpPr>
        <p:spPr>
          <a:xfrm>
            <a:off x="920000" y="2560000"/>
            <a:ext cx="4875000" cy="14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填补双行星相对运动分析与天象推演空白；Blender 式操作 + 3D/2D 双视口降低天文可视化门槛</a:t>
            </a:r>
          </a:p>
        </p:txBody>
      </p:sp>
      <p:sp>
        <p:nvSpPr>
          <p:cNvPr id="386" name="card1"/>
          <p:cNvSpPr/>
          <p:nvPr/>
        </p:nvSpPr>
        <p:spPr>
          <a:xfrm>
            <a:off x="6195000" y="1900000"/>
            <a:ext cx="5295000" cy="22000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87" name="cardbar1"/>
          <p:cNvSpPr/>
          <p:nvPr/>
        </p:nvSpPr>
        <p:spPr>
          <a:xfrm>
            <a:off x="6195000" y="2160000"/>
            <a:ext cx="90000" cy="26000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88" name="cardt1"/>
          <p:cNvSpPr txBox="1"/>
          <p:nvPr/>
        </p:nvSpPr>
        <p:spPr>
          <a:xfrm>
            <a:off x="6415000" y="2140000"/>
            <a:ext cx="4875000" cy="34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E5E5E5"/>
                </a:solidFill>
                <a:latin typeface="Microsoft YaHei UI"/>
                <a:ea typeface="Microsoft YaHei UI"/>
              </a:rPr>
              <a:t>核心亮点</a:t>
            </a:r>
          </a:p>
        </p:txBody>
      </p:sp>
      <p:sp>
        <p:nvSpPr>
          <p:cNvPr id="389" name="cardd1"/>
          <p:cNvSpPr txBox="1"/>
          <p:nvPr/>
        </p:nvSpPr>
        <p:spPr>
          <a:xfrm>
            <a:off x="6415000" y="2560000"/>
            <a:ext cx="4875000" cy="14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40000"/>
              </a:lnSpc>
              <a:buNone/>
            </a:pPr>
            <a:r>
              <a:rPr lang="zh-CN" altLang="en-US" sz="1100" dirty="0">
                <a:solidFill>
                  <a:srgbClr val="A0A0A0"/>
                </a:solidFill>
                <a:latin typeface="Microsoft YaHei UI"/>
                <a:ea typeface="Microsoft YaHei UI"/>
              </a:rPr>
              <a:t>真实数据 + 专业交互 + 科学诚实 + 教学场景，78 项验收自测全通过</a:t>
            </a:r>
          </a:p>
        </p:txBody>
      </p:sp>
      <p:sp>
        <p:nvSpPr>
          <p:cNvPr id="390" name="future"/>
          <p:cNvSpPr txBox="1"/>
          <p:nvPr/>
        </p:nvSpPr>
        <p:spPr>
          <a:xfrm>
            <a:off x="700000" y="4400000"/>
            <a:ext cx="10790000" cy="13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spcAft>
                <a:spcPts val="600"/>
              </a:spcAft>
              <a:buNone/>
            </a:pPr>
            <a:r>
              <a:rPr lang="zh-CN" altLang="en-US" sz="1500" b="1" dirty="0">
                <a:solidFill>
                  <a:srgbClr val="E87D0D"/>
                </a:solidFill>
                <a:latin typeface="Microsoft YaHei UI"/>
                <a:ea typeface="Microsoft YaHei UI"/>
              </a:rPr>
              <a:t>未来展望</a:t>
            </a:r>
          </a:p>
          <a:p>
            <a:pPr algn="l">
              <a:lnSpc>
                <a:spcPct val="140000"/>
              </a:lnSpc>
              <a:spcBef>
                <a:spcPts val="300"/>
              </a:spcBef>
              <a:buNone/>
            </a:pPr>
            <a:r>
              <a:rPr lang="zh-CN" altLang="en-US" sz="14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400" dirty="0">
                <a:solidFill>
                  <a:srgbClr val="E5E5E5"/>
                </a:solidFill>
                <a:latin typeface="Microsoft YaHei UI"/>
                <a:ea typeface="Microsoft YaHei UI"/>
              </a:rPr>
              <a:t>完整 6375+ 系外行星与 4781 恒星系已内置，后续持续同步 NASA 更新</a:t>
            </a:r>
          </a:p>
          <a:p>
            <a:pPr algn="l">
              <a:lnSpc>
                <a:spcPct val="140000"/>
              </a:lnSpc>
              <a:spcBef>
                <a:spcPts val="300"/>
              </a:spcBef>
              <a:buNone/>
            </a:pPr>
            <a:r>
              <a:rPr lang="zh-CN" altLang="en-US" sz="1400" b="1" dirty="0">
                <a:solidFill>
                  <a:srgbClr val="E87D0D"/>
                </a:solidFill>
                <a:latin typeface="Microsoft YaHei UI"/>
                <a:ea typeface="Microsoft YaHei UI"/>
              </a:rPr>
              <a:t>▪ </a:t>
            </a:r>
            <a:r>
              <a:rPr lang="zh-CN" altLang="en-US" sz="1400" dirty="0">
                <a:solidFill>
                  <a:srgbClr val="E5E5E5"/>
                </a:solidFill>
                <a:latin typeface="Microsoft YaHei UI"/>
                <a:ea typeface="Microsoft YaHei UI"/>
              </a:rPr>
              <a:t>增加彗星 / 更多卫星与环系；中英双语；VR 沉浸式体验</a:t>
            </a:r>
          </a:p>
        </p:txBody>
      </p:sp>
      <p:sp>
        <p:nvSpPr>
          <p:cNvPr id="391" name="thanks"/>
          <p:cNvSpPr txBox="1"/>
          <p:nvPr/>
        </p:nvSpPr>
        <p:spPr>
          <a:xfrm>
            <a:off x="700000" y="5850000"/>
            <a:ext cx="10790000" cy="5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1200" dirty="0">
                <a:solidFill>
                  <a:srgbClr val="A0A0A0"/>
                </a:solidFill>
                <a:latin typeface="Microsoft YaHei UI"/>
                <a:ea typeface="Microsoft YaHei UI"/>
              </a:rPr>
              <a:t>致谢：华为云码道 CodeArts  |  JPL / NASA / ESA 公开数据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bottomline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98" name="pagenum"/>
          <p:cNvSpPr txBox="1"/>
          <p:nvPr/>
        </p:nvSpPr>
        <p:spPr>
          <a:xfrm>
            <a:off x="11192000" y="6298000"/>
            <a:ext cx="700000" cy="3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30000"/>
              </a:lnSpc>
              <a:buNone/>
            </a:pPr>
            <a:r>
              <a:rPr lang="zh-CN" altLang="en-US" sz="1000" dirty="0">
                <a:solidFill>
                  <a:srgbClr val="A0A0A0"/>
                </a:solidFill>
                <a:latin typeface="Microsoft YaHei UI"/>
                <a:ea typeface="Microsoft YaHei UI"/>
              </a:rPr>
              <a:t>19 / 19</a:t>
            </a:r>
          </a:p>
        </p:txBody>
      </p:sp>
      <p:sp>
        <p:nvSpPr>
          <p:cNvPr id="399" name="qa"/>
          <p:cNvSpPr txBox="1"/>
          <p:nvPr/>
        </p:nvSpPr>
        <p:spPr>
          <a:xfrm>
            <a:off x="800000" y="2700000"/>
            <a:ext cx="10592000" cy="12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6600" b="1" dirty="0">
                <a:solidFill>
                  <a:srgbClr val="E87D0D"/>
                </a:solidFill>
                <a:latin typeface="Microsoft YaHei UI"/>
                <a:ea typeface="Microsoft YaHei UI"/>
              </a:rPr>
              <a:t>Q &amp; A</a:t>
            </a:r>
          </a:p>
        </p:txBody>
      </p:sp>
      <p:sp>
        <p:nvSpPr>
          <p:cNvPr id="400" name="qasub"/>
          <p:cNvSpPr txBox="1"/>
          <p:nvPr/>
        </p:nvSpPr>
        <p:spPr>
          <a:xfrm>
            <a:off x="800000" y="4100000"/>
            <a:ext cx="10592000" cy="6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30000"/>
              </a:lnSpc>
              <a:buNone/>
            </a:pPr>
            <a:r>
              <a:rPr lang="zh-CN" altLang="en-US" sz="1800" dirty="0">
                <a:solidFill>
                  <a:srgbClr val="E5E5E5"/>
                </a:solidFill>
                <a:latin typeface="Microsoft YaHei UI"/>
                <a:ea typeface="Microsoft YaHei UI"/>
              </a:rPr>
              <a:t>感谢聆听，欢迎提问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er Dark">
  <a:themeElements>
    <a:clrScheme name="BlenderDark">
      <a:dk1>
        <a:srgbClr val="1D1D1D"/>
      </a:dk1>
      <a:lt1>
        <a:srgbClr val="E5E5E5"/>
      </a:lt1>
      <a:dk2>
        <a:srgbClr val="333333"/>
      </a:dk2>
      <a:lt2>
        <a:srgbClr val="A0A0A0"/>
      </a:lt2>
      <a:accent1>
        <a:srgbClr val="E87D0D"/>
      </a:accent1>
      <a:accent2>
        <a:srgbClr val="4772B3"/>
      </a:accent2>
      <a:accent3>
        <a:srgbClr val="4FA3D1"/>
      </a:accent3>
      <a:accent4>
        <a:srgbClr val="E8B04B"/>
      </a:accent4>
      <a:accent5>
        <a:srgbClr val="059669"/>
      </a:accent5>
      <a:accent6>
        <a:srgbClr val="DC2626"/>
      </a:accent6>
      <a:hlink>
        <a:srgbClr val="4772B3"/>
      </a:hlink>
      <a:folHlink>
        <a:srgbClr val="808080"/>
      </a:folHlink>
    </a:clrScheme>
    <a:fontScheme name="YaHeiUI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Bas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 stdlib OOXML builder（码道创新方案）</Application>
  <Slides>19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已知行星可视化 - 答辩PPT</dc:title>
  <dc:subject>2026 华为开发者大赛 · 上海理工大学站</dc:subject>
  <dc:creator>已知行星可视化团队</dc:creator>
  <cp:lastModifiedBy>华为云码道 CodeArts</cp:lastModifiedBy>
</cp:coreProperties>
</file>